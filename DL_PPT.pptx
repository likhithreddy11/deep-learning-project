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sldIdLst>
    <p:sldId id="267" r:id="rId5"/>
    <p:sldId id="289" r:id="rId6"/>
    <p:sldId id="281" r:id="rId7"/>
    <p:sldId id="299" r:id="rId8"/>
    <p:sldId id="305" r:id="rId9"/>
    <p:sldId id="300" r:id="rId10"/>
    <p:sldId id="306" r:id="rId11"/>
    <p:sldId id="301" r:id="rId12"/>
    <p:sldId id="307" r:id="rId13"/>
    <p:sldId id="308" r:id="rId14"/>
    <p:sldId id="309" r:id="rId15"/>
    <p:sldId id="304" r:id="rId16"/>
    <p:sldId id="282" r:id="rId17"/>
    <p:sldId id="290" r:id="rId18"/>
    <p:sldId id="296" r:id="rId19"/>
    <p:sldId id="297" r:id="rId20"/>
    <p:sldId id="298" r:id="rId21"/>
    <p:sldId id="310" r:id="rId22"/>
    <p:sldId id="311" r:id="rId23"/>
    <p:sldId id="312" r:id="rId24"/>
    <p:sldId id="313" r:id="rId25"/>
    <p:sldId id="288" r:id="rId2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71D5BB-C3BD-4881-B69B-DD45E4E8ED1F}" v="18" dt="2025-05-26T06:03:28.9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91" d="100"/>
          <a:sy n="91" d="100"/>
        </p:scale>
        <p:origin x="360" y="5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a:p>
            <a:endParaRPr lang="en-US" dirty="0"/>
          </a:p>
        </p:txBody>
      </p:sp>
      <p:sp>
        <p:nvSpPr>
          <p:cNvPr id="3" name="Date Placeholder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dirty="0"/>
          </a:p>
          <a:p>
            <a:r>
              <a:rPr lang="en-US" dirty="0"/>
              <a:t>*</a:t>
            </a:r>
          </a:p>
        </p:txBody>
      </p:sp>
      <p:sp>
        <p:nvSpPr>
          <p:cNvPr id="4" name="Slide Image Placeholder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dirty="0"/>
          </a:p>
          <a:p>
            <a:endParaRPr lang="en-US" dirty="0"/>
          </a:p>
        </p:txBody>
      </p:sp>
      <p:sp>
        <p:nvSpPr>
          <p:cNvPr id="5" name="Notes Placeholder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a:p>
            <a:endParaRPr lang="en-US" dirty="0"/>
          </a:p>
        </p:txBody>
      </p:sp>
      <p:sp>
        <p:nvSpPr>
          <p:cNvPr id="7" name="Slide Number Placeholder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endParaRPr dirty="0"/>
          </a:p>
          <a:p>
            <a:r>
              <a:rPr lang="en-US" dirty="0"/>
              <a:t>#</a:t>
            </a:r>
          </a:p>
        </p:txBody>
      </p:sp>
    </p:spTree>
    <p:extLst>
      <p:ext uri="{BB962C8B-B14F-4D97-AF65-F5344CB8AC3E}">
        <p14:creationId xmlns:p14="http://schemas.microsoft.com/office/powerpoint/2010/main" val="429495982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a:endParaRPr dirty="0"/>
          </a:p>
        </p:txBody>
      </p:sp>
      <p:sp>
        <p:nvSpPr>
          <p:cNvPr id="3" name="Text Placeholder 2"/>
          <p:cNvSpPr>
            <a:spLocks noGrp="1" noEditPoints="1"/>
          </p:cNvSpPr>
          <p:nvPr>
            <p:ph type="body" idx="3"/>
          </p:nvPr>
        </p:nvSpPr>
        <p:spPr>
          <a:prstGeom prst="rect">
            <a:avLst/>
          </a:prstGeom>
        </p:spPr>
        <p:txBody>
          <a:bodyPr/>
          <a:lstStyle/>
          <a:p>
            <a:endParaRPr lang="en-US" dirty="0"/>
          </a:p>
        </p:txBody>
      </p:sp>
      <p:sp>
        <p:nvSpPr>
          <p:cNvPr id="4" name="Slide Number Placeholder 3"/>
          <p:cNvSpPr>
            <a:spLocks noGrp="1" noEditPoints="1"/>
          </p:cNvSpPr>
          <p:nvPr>
            <p:ph type="sldNum" sz="quarter" idx="5"/>
          </p:nvPr>
        </p:nvSpPr>
        <p:spPr>
          <a:prstGeom prst="rect">
            <a:avLst/>
          </a:prstGeom>
        </p:spPr>
        <p:txBody>
          <a:bodyPr/>
          <a:lstStyle/>
          <a:p>
            <a:fld id="{903CCDE5-9680-4ECB-BF2F-471E3EEC7E59}"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30583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noEditPoints="1"/>
          </p:cNvSpPr>
          <p:nvPr>
            <p:ph type="ctrTitle"/>
          </p:nvPr>
        </p:nvSpPr>
        <p:spPr>
          <a:xfrm>
            <a:off x="914400" y="2125980"/>
            <a:ext cx="10363200" cy="1440180"/>
          </a:xfrm>
          <a:prstGeom prst="rect">
            <a:avLst/>
          </a:prstGeom>
        </p:spPr>
        <p:txBody>
          <a:bodyPr wrap="square" lIns="0" tIns="0" rIns="0" bIns="0">
            <a:spAutoFit/>
          </a:bodyPr>
          <a:lstStyle/>
          <a:p>
            <a:endParaRPr/>
          </a:p>
        </p:txBody>
      </p:sp>
      <p:sp>
        <p:nvSpPr>
          <p:cNvPr id="3" name="Holder 3"/>
          <p:cNvSpPr>
            <a:spLocks noGrp="1" noEditPoints="1"/>
          </p:cNvSpPr>
          <p:nvPr>
            <p:ph type="subTitle" idx="4"/>
          </p:nvPr>
        </p:nvSpPr>
        <p:spPr>
          <a:xfrm>
            <a:off x="1828800" y="3840480"/>
            <a:ext cx="8534400" cy="1714500"/>
          </a:xfrm>
          <a:prstGeom prst="rect">
            <a:avLst/>
          </a:prstGeom>
        </p:spPr>
        <p:txBody>
          <a:bodyPr wrap="square" lIns="0" tIns="0" rIns="0" bIns="0">
            <a:spAutoFit/>
          </a:bodyPr>
          <a:lstStyle/>
          <a:p>
            <a:pPr lvl="0"/>
            <a:endParaRPr/>
          </a:p>
        </p:txBody>
      </p:sp>
      <p:sp>
        <p:nvSpPr>
          <p:cNvPr id="4" name="Holder 4"/>
          <p:cNvSpPr>
            <a:spLocks noGrp="1" noEditPoints="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noEditPoints="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dirty="0"/>
          </a:p>
        </p:txBody>
      </p:sp>
      <p:sp>
        <p:nvSpPr>
          <p:cNvPr id="6" name="Holder 6"/>
          <p:cNvSpPr>
            <a:spLocks noGrp="1" noEditPoints="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noEditPoints="1"/>
          </p:cNvSpPr>
          <p:nvPr>
            <p:ph type="title"/>
          </p:nvPr>
        </p:nvSpPr>
        <p:spPr/>
        <p:txBody>
          <a:bodyPr lIns="0" tIns="0" rIns="0" bIns="0"/>
          <a:lstStyle>
            <a:lvl1pPr>
              <a:defRPr sz="3200" b="1" i="0">
                <a:solidFill>
                  <a:schemeClr val="bg1"/>
                </a:solidFill>
                <a:latin typeface="Arial" panose="020B0604020202020204" pitchFamily="34" charset="0"/>
                <a:cs typeface="Arial" panose="020B0604020202020204" pitchFamily="34" charset="0"/>
              </a:defRPr>
            </a:lvl1pPr>
          </a:lstStyle>
          <a:p>
            <a:endParaRPr/>
          </a:p>
        </p:txBody>
      </p:sp>
      <p:sp>
        <p:nvSpPr>
          <p:cNvPr id="3" name="Holder 3"/>
          <p:cNvSpPr>
            <a:spLocks noGrp="1" noEditPoints="1"/>
          </p:cNvSpPr>
          <p:nvPr>
            <p:ph type="body" idx="1"/>
          </p:nvPr>
        </p:nvSpPr>
        <p:spPr/>
        <p:txBody>
          <a:bodyPr lIns="0" tIns="0" rIns="0" bIns="0"/>
          <a:lstStyle>
            <a:lvl1pPr>
              <a:defRPr sz="3200" b="0" i="0">
                <a:solidFill>
                  <a:schemeClr val="tx1"/>
                </a:solidFill>
                <a:latin typeface="Trebuchet MS" panose="020B0603020202020204"/>
                <a:cs typeface="Trebuchet MS" panose="020B0603020202020204"/>
              </a:defRPr>
            </a:lvl1pPr>
          </a:lstStyle>
          <a:p>
            <a:pPr lvl="0"/>
            <a:endParaRPr/>
          </a:p>
        </p:txBody>
      </p:sp>
      <p:sp>
        <p:nvSpPr>
          <p:cNvPr id="4" name="Holder 4"/>
          <p:cNvSpPr>
            <a:spLocks noGrp="1" noEditPoints="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noEditPoints="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dirty="0"/>
          </a:p>
        </p:txBody>
      </p:sp>
      <p:sp>
        <p:nvSpPr>
          <p:cNvPr id="6" name="Holder 6"/>
          <p:cNvSpPr>
            <a:spLocks noGrp="1" noEditPoints="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noEditPoints="1"/>
          </p:cNvSpPr>
          <p:nvPr>
            <p:ph type="title"/>
          </p:nvPr>
        </p:nvSpPr>
        <p:spPr/>
        <p:txBody>
          <a:bodyPr lIns="0" tIns="0" rIns="0" bIns="0"/>
          <a:lstStyle>
            <a:lvl1pPr>
              <a:defRPr sz="3200" b="1" i="0">
                <a:solidFill>
                  <a:schemeClr val="bg1"/>
                </a:solidFill>
                <a:latin typeface="Arial" panose="020B0604020202020204" pitchFamily="34" charset="0"/>
                <a:cs typeface="Arial" panose="020B0604020202020204" pitchFamily="34" charset="0"/>
              </a:defRPr>
            </a:lvl1pPr>
          </a:lstStyle>
          <a:p>
            <a:endParaRPr/>
          </a:p>
        </p:txBody>
      </p:sp>
      <p:sp>
        <p:nvSpPr>
          <p:cNvPr id="3" name="Holder 3"/>
          <p:cNvSpPr>
            <a:spLocks noGrp="1" noEditPoints="1"/>
          </p:cNvSpPr>
          <p:nvPr>
            <p:ph sz="half" idx="2"/>
          </p:nvPr>
        </p:nvSpPr>
        <p:spPr>
          <a:xfrm>
            <a:off x="609600" y="1577340"/>
            <a:ext cx="5303520" cy="4526280"/>
          </a:xfrm>
          <a:prstGeom prst="rect">
            <a:avLst/>
          </a:prstGeom>
        </p:spPr>
        <p:txBody>
          <a:bodyPr wrap="square" lIns="0" tIns="0" rIns="0" bIns="0">
            <a:spAutoFit/>
          </a:bodyPr>
          <a:lstStyle/>
          <a:p>
            <a:pPr lvl="0"/>
            <a:endParaRPr/>
          </a:p>
        </p:txBody>
      </p:sp>
      <p:sp>
        <p:nvSpPr>
          <p:cNvPr id="4" name="Holder 4"/>
          <p:cNvSpPr>
            <a:spLocks noGrp="1" noEditPoints="1"/>
          </p:cNvSpPr>
          <p:nvPr>
            <p:ph sz="half" idx="3"/>
          </p:nvPr>
        </p:nvSpPr>
        <p:spPr>
          <a:xfrm>
            <a:off x="6278880" y="1577340"/>
            <a:ext cx="5303520" cy="4526280"/>
          </a:xfrm>
          <a:prstGeom prst="rect">
            <a:avLst/>
          </a:prstGeom>
        </p:spPr>
        <p:txBody>
          <a:bodyPr wrap="square" lIns="0" tIns="0" rIns="0" bIns="0">
            <a:spAutoFit/>
          </a:bodyPr>
          <a:lstStyle/>
          <a:p>
            <a:pPr lvl="0"/>
            <a:endParaRPr/>
          </a:p>
        </p:txBody>
      </p:sp>
      <p:sp>
        <p:nvSpPr>
          <p:cNvPr id="5" name="Holder 5"/>
          <p:cNvSpPr>
            <a:spLocks noGrp="1" noEditPoints="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noEditPoints="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dirty="0"/>
          </a:p>
        </p:txBody>
      </p:sp>
      <p:sp>
        <p:nvSpPr>
          <p:cNvPr id="7" name="Holder 7"/>
          <p:cNvSpPr>
            <a:spLocks noGrp="1" noEditPoints="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noEditPoints="1"/>
          </p:cNvSpPr>
          <p:nvPr>
            <p:ph type="title"/>
          </p:nvPr>
        </p:nvSpPr>
        <p:spPr/>
        <p:txBody>
          <a:bodyPr lIns="0" tIns="0" rIns="0" bIns="0"/>
          <a:lstStyle>
            <a:lvl1pPr>
              <a:defRPr sz="3200" b="1" i="0">
                <a:solidFill>
                  <a:schemeClr val="bg1"/>
                </a:solidFill>
                <a:latin typeface="Arial" panose="020B0604020202020204" pitchFamily="34" charset="0"/>
                <a:cs typeface="Arial" panose="020B0604020202020204" pitchFamily="34" charset="0"/>
              </a:defRPr>
            </a:lvl1pPr>
          </a:lstStyle>
          <a:p>
            <a:endParaRPr/>
          </a:p>
        </p:txBody>
      </p:sp>
      <p:sp>
        <p:nvSpPr>
          <p:cNvPr id="3" name="Holder 3"/>
          <p:cNvSpPr>
            <a:spLocks noGrp="1" noEditPoints="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noEditPoints="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dirty="0"/>
          </a:p>
        </p:txBody>
      </p:sp>
      <p:sp>
        <p:nvSpPr>
          <p:cNvPr id="5" name="Holder 5"/>
          <p:cNvSpPr>
            <a:spLocks noGrp="1" noEditPoints="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noEditPoints="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noEditPoints="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dirty="0"/>
          </a:p>
        </p:txBody>
      </p:sp>
      <p:sp>
        <p:nvSpPr>
          <p:cNvPr id="4" name="Holder 4"/>
          <p:cNvSpPr>
            <a:spLocks noGrp="1" noEditPoints="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rPr dirty="0"/>
              <a:t>Footer</a:t>
            </a:r>
          </a:p>
        </p:txBody>
      </p:sp>
      <p:sp>
        <p:nvSpPr>
          <p:cNvPr id="3" name="PlaceHolder 2"/>
          <p:cNvSpPr>
            <a:spLocks noGrp="1"/>
          </p:cNvSpPr>
          <p:nvPr>
            <p:ph type="sldNum" idx="6"/>
          </p:nvPr>
        </p:nvSpPr>
        <p:spPr/>
        <p:txBody>
          <a:bodyPr/>
          <a:lstStyle/>
          <a:p>
            <a:fld id="{578FDC01-D32A-4B4D-BE9A-AFD50353268B}" type="slidenum">
              <a:t>‹#›</a:t>
            </a:fld>
            <a:endParaRPr dirty="0"/>
          </a:p>
        </p:txBody>
      </p:sp>
      <p:sp>
        <p:nvSpPr>
          <p:cNvPr id="4" name="PlaceHolder 3"/>
          <p:cNvSpPr>
            <a:spLocks noGrp="1"/>
          </p:cNvSpPr>
          <p:nvPr>
            <p:ph type="dt" idx="4"/>
          </p:nvPr>
        </p:nvSpPr>
        <p:spPr/>
        <p:txBody>
          <a:bodyPr/>
          <a:lstStyle/>
          <a:p>
            <a:endParaRPr dirty="0"/>
          </a:p>
        </p:txBody>
      </p:sp>
    </p:spTree>
    <p:extLst>
      <p:ext uri="{BB962C8B-B14F-4D97-AF65-F5344CB8AC3E}">
        <p14:creationId xmlns:p14="http://schemas.microsoft.com/office/powerpoint/2010/main" val="3833081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a:srcRect/>
          <a:stretch>
            <a:fillRect/>
          </a:stretch>
        </p:blipFill>
        <p:spPr>
          <a:xfrm>
            <a:off x="11271432" y="3297925"/>
            <a:ext cx="373448" cy="2485660"/>
          </a:xfrm>
          <a:prstGeom prst="rect">
            <a:avLst/>
          </a:prstGeom>
        </p:spPr>
      </p:pic>
      <p:sp>
        <p:nvSpPr>
          <p:cNvPr id="17" name="bg object 17"/>
          <p:cNvSpPr/>
          <p:nvPr/>
        </p:nvSpPr>
        <p:spPr>
          <a:xfrm>
            <a:off x="11340083" y="3366516"/>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2"/>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0000"/>
          </a:solidFill>
        </p:spPr>
        <p:txBody>
          <a:bodyPr wrap="square" lIns="0" tIns="0" rIns="0" bIns="0" rtlCol="0"/>
          <a:lstStyle/>
          <a:p>
            <a:endParaRPr dirty="0"/>
          </a:p>
        </p:txBody>
      </p:sp>
      <p:sp>
        <p:nvSpPr>
          <p:cNvPr id="18" name="bg object 18"/>
          <p:cNvSpPr/>
          <p:nvPr/>
        </p:nvSpPr>
        <p:spPr>
          <a:xfrm>
            <a:off x="11340083" y="3366516"/>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2"/>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FF0000"/>
            </a:solidFill>
          </a:ln>
        </p:spPr>
        <p:txBody>
          <a:bodyPr wrap="square" lIns="0" tIns="0" rIns="0" bIns="0" rtlCol="0"/>
          <a:lstStyle/>
          <a:p>
            <a:endParaRPr dirty="0"/>
          </a:p>
        </p:txBody>
      </p:sp>
      <p:sp>
        <p:nvSpPr>
          <p:cNvPr id="19" name="bg object 19"/>
          <p:cNvSpPr/>
          <p:nvPr/>
        </p:nvSpPr>
        <p:spPr>
          <a:xfrm>
            <a:off x="11340083" y="3630168"/>
            <a:ext cx="287020" cy="262255"/>
          </a:xfrm>
          <a:custGeom>
            <a:avLst/>
            <a:gdLst/>
            <a:ahLst/>
            <a:cxnLst/>
            <a:rect l="l" t="t" r="r" b="b"/>
            <a:pathLst>
              <a:path w="287020" h="262254">
                <a:moveTo>
                  <a:pt x="143256" y="0"/>
                </a:moveTo>
                <a:lnTo>
                  <a:pt x="97974" y="6681"/>
                </a:lnTo>
                <a:lnTo>
                  <a:pt x="58649" y="25286"/>
                </a:lnTo>
                <a:lnTo>
                  <a:pt x="27639" y="53656"/>
                </a:lnTo>
                <a:lnTo>
                  <a:pt x="7303" y="89635"/>
                </a:lnTo>
                <a:lnTo>
                  <a:pt x="0" y="131063"/>
                </a:lnTo>
                <a:lnTo>
                  <a:pt x="7303" y="172492"/>
                </a:lnTo>
                <a:lnTo>
                  <a:pt x="27639" y="208471"/>
                </a:lnTo>
                <a:lnTo>
                  <a:pt x="58649" y="236841"/>
                </a:lnTo>
                <a:lnTo>
                  <a:pt x="97974" y="255446"/>
                </a:lnTo>
                <a:lnTo>
                  <a:pt x="143256" y="262127"/>
                </a:lnTo>
                <a:lnTo>
                  <a:pt x="188537" y="255446"/>
                </a:lnTo>
                <a:lnTo>
                  <a:pt x="227862" y="236841"/>
                </a:lnTo>
                <a:lnTo>
                  <a:pt x="258872" y="208471"/>
                </a:lnTo>
                <a:lnTo>
                  <a:pt x="279208" y="172492"/>
                </a:lnTo>
                <a:lnTo>
                  <a:pt x="286512" y="131063"/>
                </a:lnTo>
                <a:lnTo>
                  <a:pt x="279208" y="89635"/>
                </a:lnTo>
                <a:lnTo>
                  <a:pt x="258872" y="53656"/>
                </a:lnTo>
                <a:lnTo>
                  <a:pt x="227862" y="25286"/>
                </a:lnTo>
                <a:lnTo>
                  <a:pt x="188537" y="6681"/>
                </a:lnTo>
                <a:lnTo>
                  <a:pt x="143256" y="0"/>
                </a:lnTo>
                <a:close/>
              </a:path>
            </a:pathLst>
          </a:custGeom>
          <a:solidFill>
            <a:srgbClr val="3333FF"/>
          </a:solidFill>
        </p:spPr>
        <p:txBody>
          <a:bodyPr wrap="square" lIns="0" tIns="0" rIns="0" bIns="0" rtlCol="0"/>
          <a:lstStyle/>
          <a:p>
            <a:endParaRPr dirty="0"/>
          </a:p>
        </p:txBody>
      </p:sp>
      <p:sp>
        <p:nvSpPr>
          <p:cNvPr id="20" name="bg object 20"/>
          <p:cNvSpPr/>
          <p:nvPr/>
        </p:nvSpPr>
        <p:spPr>
          <a:xfrm>
            <a:off x="11340083" y="3630168"/>
            <a:ext cx="287020" cy="262255"/>
          </a:xfrm>
          <a:custGeom>
            <a:avLst/>
            <a:gdLst/>
            <a:ahLst/>
            <a:cxnLst/>
            <a:rect l="l" t="t" r="r" b="b"/>
            <a:pathLst>
              <a:path w="287020" h="262254">
                <a:moveTo>
                  <a:pt x="143256" y="0"/>
                </a:moveTo>
                <a:lnTo>
                  <a:pt x="188537" y="6681"/>
                </a:lnTo>
                <a:lnTo>
                  <a:pt x="227862" y="25286"/>
                </a:lnTo>
                <a:lnTo>
                  <a:pt x="258872" y="53656"/>
                </a:lnTo>
                <a:lnTo>
                  <a:pt x="279208" y="89635"/>
                </a:lnTo>
                <a:lnTo>
                  <a:pt x="286512" y="131063"/>
                </a:lnTo>
                <a:lnTo>
                  <a:pt x="279208" y="172492"/>
                </a:lnTo>
                <a:lnTo>
                  <a:pt x="258872" y="208471"/>
                </a:lnTo>
                <a:lnTo>
                  <a:pt x="227862" y="236841"/>
                </a:lnTo>
                <a:lnTo>
                  <a:pt x="188537" y="255446"/>
                </a:lnTo>
                <a:lnTo>
                  <a:pt x="143256" y="262127"/>
                </a:lnTo>
                <a:lnTo>
                  <a:pt x="97974" y="255446"/>
                </a:lnTo>
                <a:lnTo>
                  <a:pt x="58649" y="236841"/>
                </a:lnTo>
                <a:lnTo>
                  <a:pt x="27639" y="208471"/>
                </a:lnTo>
                <a:lnTo>
                  <a:pt x="7303" y="172492"/>
                </a:lnTo>
                <a:lnTo>
                  <a:pt x="0" y="131063"/>
                </a:lnTo>
                <a:lnTo>
                  <a:pt x="7303" y="89635"/>
                </a:lnTo>
                <a:lnTo>
                  <a:pt x="27639" y="53656"/>
                </a:lnTo>
                <a:lnTo>
                  <a:pt x="58649" y="25286"/>
                </a:lnTo>
                <a:lnTo>
                  <a:pt x="97974" y="6681"/>
                </a:lnTo>
                <a:lnTo>
                  <a:pt x="143256" y="0"/>
                </a:lnTo>
                <a:close/>
              </a:path>
            </a:pathLst>
          </a:custGeom>
          <a:ln w="12700">
            <a:solidFill>
              <a:srgbClr val="3333FF"/>
            </a:solidFill>
          </a:ln>
        </p:spPr>
        <p:txBody>
          <a:bodyPr wrap="square" lIns="0" tIns="0" rIns="0" bIns="0" rtlCol="0"/>
          <a:lstStyle/>
          <a:p>
            <a:endParaRPr dirty="0"/>
          </a:p>
        </p:txBody>
      </p:sp>
      <p:sp>
        <p:nvSpPr>
          <p:cNvPr id="21" name="bg object 21"/>
          <p:cNvSpPr/>
          <p:nvPr/>
        </p:nvSpPr>
        <p:spPr>
          <a:xfrm>
            <a:off x="11340083" y="3904488"/>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1"/>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FF00"/>
          </a:solidFill>
        </p:spPr>
        <p:txBody>
          <a:bodyPr wrap="square" lIns="0" tIns="0" rIns="0" bIns="0" rtlCol="0"/>
          <a:lstStyle/>
          <a:p>
            <a:endParaRPr dirty="0"/>
          </a:p>
        </p:txBody>
      </p:sp>
      <p:sp>
        <p:nvSpPr>
          <p:cNvPr id="22" name="bg object 22"/>
          <p:cNvSpPr/>
          <p:nvPr/>
        </p:nvSpPr>
        <p:spPr>
          <a:xfrm>
            <a:off x="11340083" y="3904488"/>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1"/>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FFFF00"/>
            </a:solidFill>
          </a:ln>
        </p:spPr>
        <p:txBody>
          <a:bodyPr wrap="square" lIns="0" tIns="0" rIns="0" bIns="0" rtlCol="0"/>
          <a:lstStyle/>
          <a:p>
            <a:endParaRPr dirty="0"/>
          </a:p>
        </p:txBody>
      </p:sp>
      <p:sp>
        <p:nvSpPr>
          <p:cNvPr id="23" name="bg object 23"/>
          <p:cNvSpPr/>
          <p:nvPr/>
        </p:nvSpPr>
        <p:spPr>
          <a:xfrm>
            <a:off x="11340083" y="4177284"/>
            <a:ext cx="287020" cy="262255"/>
          </a:xfrm>
          <a:custGeom>
            <a:avLst/>
            <a:gdLst/>
            <a:ahLst/>
            <a:cxnLst/>
            <a:rect l="l" t="t" r="r" b="b"/>
            <a:pathLst>
              <a:path w="287020" h="262254">
                <a:moveTo>
                  <a:pt x="143256" y="0"/>
                </a:moveTo>
                <a:lnTo>
                  <a:pt x="97974" y="6681"/>
                </a:lnTo>
                <a:lnTo>
                  <a:pt x="58649" y="25286"/>
                </a:lnTo>
                <a:lnTo>
                  <a:pt x="27639" y="53656"/>
                </a:lnTo>
                <a:lnTo>
                  <a:pt x="7303" y="89635"/>
                </a:lnTo>
                <a:lnTo>
                  <a:pt x="0" y="131064"/>
                </a:lnTo>
                <a:lnTo>
                  <a:pt x="7303" y="172492"/>
                </a:lnTo>
                <a:lnTo>
                  <a:pt x="27639" y="208471"/>
                </a:lnTo>
                <a:lnTo>
                  <a:pt x="58649" y="236841"/>
                </a:lnTo>
                <a:lnTo>
                  <a:pt x="97974" y="255446"/>
                </a:lnTo>
                <a:lnTo>
                  <a:pt x="143256" y="262128"/>
                </a:lnTo>
                <a:lnTo>
                  <a:pt x="188537" y="255446"/>
                </a:lnTo>
                <a:lnTo>
                  <a:pt x="227862" y="236841"/>
                </a:lnTo>
                <a:lnTo>
                  <a:pt x="258872" y="208471"/>
                </a:lnTo>
                <a:lnTo>
                  <a:pt x="279208" y="172492"/>
                </a:lnTo>
                <a:lnTo>
                  <a:pt x="286512" y="131064"/>
                </a:lnTo>
                <a:lnTo>
                  <a:pt x="279208" y="89635"/>
                </a:lnTo>
                <a:lnTo>
                  <a:pt x="258872" y="53656"/>
                </a:lnTo>
                <a:lnTo>
                  <a:pt x="227862" y="25286"/>
                </a:lnTo>
                <a:lnTo>
                  <a:pt x="188537" y="6681"/>
                </a:lnTo>
                <a:lnTo>
                  <a:pt x="143256" y="0"/>
                </a:lnTo>
                <a:close/>
              </a:path>
            </a:pathLst>
          </a:custGeom>
          <a:solidFill>
            <a:srgbClr val="00AF50"/>
          </a:solidFill>
        </p:spPr>
        <p:txBody>
          <a:bodyPr wrap="square" lIns="0" tIns="0" rIns="0" bIns="0" rtlCol="0"/>
          <a:lstStyle/>
          <a:p>
            <a:endParaRPr dirty="0"/>
          </a:p>
        </p:txBody>
      </p:sp>
      <p:sp>
        <p:nvSpPr>
          <p:cNvPr id="24" name="bg object 24"/>
          <p:cNvSpPr/>
          <p:nvPr/>
        </p:nvSpPr>
        <p:spPr>
          <a:xfrm>
            <a:off x="11340083" y="4177284"/>
            <a:ext cx="287020" cy="262255"/>
          </a:xfrm>
          <a:custGeom>
            <a:avLst/>
            <a:gdLst/>
            <a:ahLst/>
            <a:cxnLst/>
            <a:rect l="l" t="t" r="r" b="b"/>
            <a:pathLst>
              <a:path w="287020" h="262254">
                <a:moveTo>
                  <a:pt x="143256" y="0"/>
                </a:moveTo>
                <a:lnTo>
                  <a:pt x="188537" y="6681"/>
                </a:lnTo>
                <a:lnTo>
                  <a:pt x="227862" y="25286"/>
                </a:lnTo>
                <a:lnTo>
                  <a:pt x="258872" y="53656"/>
                </a:lnTo>
                <a:lnTo>
                  <a:pt x="279208" y="89635"/>
                </a:lnTo>
                <a:lnTo>
                  <a:pt x="286512" y="131064"/>
                </a:lnTo>
                <a:lnTo>
                  <a:pt x="279208" y="172492"/>
                </a:lnTo>
                <a:lnTo>
                  <a:pt x="258872" y="208471"/>
                </a:lnTo>
                <a:lnTo>
                  <a:pt x="227862" y="236841"/>
                </a:lnTo>
                <a:lnTo>
                  <a:pt x="188537" y="255446"/>
                </a:lnTo>
                <a:lnTo>
                  <a:pt x="143256" y="262128"/>
                </a:lnTo>
                <a:lnTo>
                  <a:pt x="97974" y="255446"/>
                </a:lnTo>
                <a:lnTo>
                  <a:pt x="58649" y="236841"/>
                </a:lnTo>
                <a:lnTo>
                  <a:pt x="27639" y="208471"/>
                </a:lnTo>
                <a:lnTo>
                  <a:pt x="7303" y="172492"/>
                </a:lnTo>
                <a:lnTo>
                  <a:pt x="0" y="131064"/>
                </a:lnTo>
                <a:lnTo>
                  <a:pt x="7303" y="89635"/>
                </a:lnTo>
                <a:lnTo>
                  <a:pt x="27639" y="53656"/>
                </a:lnTo>
                <a:lnTo>
                  <a:pt x="58649" y="25286"/>
                </a:lnTo>
                <a:lnTo>
                  <a:pt x="97974" y="6681"/>
                </a:lnTo>
                <a:lnTo>
                  <a:pt x="143256" y="0"/>
                </a:lnTo>
                <a:close/>
              </a:path>
            </a:pathLst>
          </a:custGeom>
          <a:ln w="12700">
            <a:solidFill>
              <a:srgbClr val="00AF50"/>
            </a:solidFill>
          </a:ln>
        </p:spPr>
        <p:txBody>
          <a:bodyPr wrap="square" lIns="0" tIns="0" rIns="0" bIns="0" rtlCol="0"/>
          <a:lstStyle/>
          <a:p>
            <a:endParaRPr dirty="0"/>
          </a:p>
        </p:txBody>
      </p:sp>
      <p:sp>
        <p:nvSpPr>
          <p:cNvPr id="25" name="bg object 25"/>
          <p:cNvSpPr/>
          <p:nvPr/>
        </p:nvSpPr>
        <p:spPr>
          <a:xfrm>
            <a:off x="11340083" y="4439412"/>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1"/>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BEBEBE"/>
          </a:solidFill>
        </p:spPr>
        <p:txBody>
          <a:bodyPr wrap="square" lIns="0" tIns="0" rIns="0" bIns="0" rtlCol="0"/>
          <a:lstStyle/>
          <a:p>
            <a:endParaRPr dirty="0"/>
          </a:p>
        </p:txBody>
      </p:sp>
      <p:sp>
        <p:nvSpPr>
          <p:cNvPr id="26" name="bg object 26"/>
          <p:cNvSpPr/>
          <p:nvPr/>
        </p:nvSpPr>
        <p:spPr>
          <a:xfrm>
            <a:off x="11340083" y="4439412"/>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1"/>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BEBEBE"/>
            </a:solidFill>
          </a:ln>
        </p:spPr>
        <p:txBody>
          <a:bodyPr wrap="square" lIns="0" tIns="0" rIns="0" bIns="0" rtlCol="0"/>
          <a:lstStyle/>
          <a:p>
            <a:endParaRPr dirty="0"/>
          </a:p>
        </p:txBody>
      </p:sp>
      <p:sp>
        <p:nvSpPr>
          <p:cNvPr id="27" name="bg object 27"/>
          <p:cNvSpPr/>
          <p:nvPr/>
        </p:nvSpPr>
        <p:spPr>
          <a:xfrm>
            <a:off x="11340083" y="4703064"/>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2"/>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FFFF"/>
          </a:solidFill>
        </p:spPr>
        <p:txBody>
          <a:bodyPr wrap="square" lIns="0" tIns="0" rIns="0" bIns="0" rtlCol="0"/>
          <a:lstStyle/>
          <a:p>
            <a:endParaRPr dirty="0"/>
          </a:p>
        </p:txBody>
      </p:sp>
      <p:sp>
        <p:nvSpPr>
          <p:cNvPr id="28" name="bg object 28"/>
          <p:cNvSpPr/>
          <p:nvPr/>
        </p:nvSpPr>
        <p:spPr>
          <a:xfrm>
            <a:off x="11340083" y="4703064"/>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2"/>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D9D9D9"/>
            </a:solidFill>
          </a:ln>
        </p:spPr>
        <p:txBody>
          <a:bodyPr wrap="square" lIns="0" tIns="0" rIns="0" bIns="0" rtlCol="0"/>
          <a:lstStyle/>
          <a:p>
            <a:endParaRPr dirty="0"/>
          </a:p>
        </p:txBody>
      </p:sp>
      <p:sp>
        <p:nvSpPr>
          <p:cNvPr id="29" name="bg object 29"/>
          <p:cNvSpPr/>
          <p:nvPr/>
        </p:nvSpPr>
        <p:spPr>
          <a:xfrm>
            <a:off x="11340083" y="4968240"/>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6"/>
                </a:lnTo>
                <a:lnTo>
                  <a:pt x="7303" y="173479"/>
                </a:lnTo>
                <a:lnTo>
                  <a:pt x="27639" y="209665"/>
                </a:lnTo>
                <a:lnTo>
                  <a:pt x="58649" y="238207"/>
                </a:lnTo>
                <a:lnTo>
                  <a:pt x="97974" y="256928"/>
                </a:lnTo>
                <a:lnTo>
                  <a:pt x="143256" y="263652"/>
                </a:lnTo>
                <a:lnTo>
                  <a:pt x="188537" y="256928"/>
                </a:lnTo>
                <a:lnTo>
                  <a:pt x="227862" y="238207"/>
                </a:lnTo>
                <a:lnTo>
                  <a:pt x="258872" y="209665"/>
                </a:lnTo>
                <a:lnTo>
                  <a:pt x="279208" y="173479"/>
                </a:lnTo>
                <a:lnTo>
                  <a:pt x="286512" y="131826"/>
                </a:lnTo>
                <a:lnTo>
                  <a:pt x="279208" y="90172"/>
                </a:lnTo>
                <a:lnTo>
                  <a:pt x="258872" y="53986"/>
                </a:lnTo>
                <a:lnTo>
                  <a:pt x="227862" y="25444"/>
                </a:lnTo>
                <a:lnTo>
                  <a:pt x="188537" y="6723"/>
                </a:lnTo>
                <a:lnTo>
                  <a:pt x="143256" y="0"/>
                </a:lnTo>
                <a:close/>
              </a:path>
            </a:pathLst>
          </a:custGeom>
          <a:solidFill>
            <a:srgbClr val="FFC000"/>
          </a:solidFill>
        </p:spPr>
        <p:txBody>
          <a:bodyPr wrap="square" lIns="0" tIns="0" rIns="0" bIns="0" rtlCol="0"/>
          <a:lstStyle/>
          <a:p>
            <a:endParaRPr dirty="0"/>
          </a:p>
        </p:txBody>
      </p:sp>
      <p:sp>
        <p:nvSpPr>
          <p:cNvPr id="30" name="bg object 30"/>
          <p:cNvSpPr/>
          <p:nvPr/>
        </p:nvSpPr>
        <p:spPr>
          <a:xfrm>
            <a:off x="11340083" y="4968240"/>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6"/>
                </a:lnTo>
                <a:lnTo>
                  <a:pt x="279208" y="173479"/>
                </a:lnTo>
                <a:lnTo>
                  <a:pt x="258872" y="209665"/>
                </a:lnTo>
                <a:lnTo>
                  <a:pt x="227862" y="238207"/>
                </a:lnTo>
                <a:lnTo>
                  <a:pt x="188537" y="256928"/>
                </a:lnTo>
                <a:lnTo>
                  <a:pt x="143256" y="263652"/>
                </a:lnTo>
                <a:lnTo>
                  <a:pt x="97974" y="256928"/>
                </a:lnTo>
                <a:lnTo>
                  <a:pt x="58649" y="238207"/>
                </a:lnTo>
                <a:lnTo>
                  <a:pt x="27639" y="209665"/>
                </a:lnTo>
                <a:lnTo>
                  <a:pt x="7303" y="173479"/>
                </a:lnTo>
                <a:lnTo>
                  <a:pt x="0" y="131826"/>
                </a:lnTo>
                <a:lnTo>
                  <a:pt x="7303" y="90172"/>
                </a:lnTo>
                <a:lnTo>
                  <a:pt x="27639" y="53986"/>
                </a:lnTo>
                <a:lnTo>
                  <a:pt x="58649" y="25444"/>
                </a:lnTo>
                <a:lnTo>
                  <a:pt x="97974" y="6723"/>
                </a:lnTo>
                <a:lnTo>
                  <a:pt x="143256" y="0"/>
                </a:lnTo>
                <a:close/>
              </a:path>
            </a:pathLst>
          </a:custGeom>
          <a:ln w="12700">
            <a:solidFill>
              <a:srgbClr val="FFC000"/>
            </a:solidFill>
          </a:ln>
        </p:spPr>
        <p:txBody>
          <a:bodyPr wrap="square" lIns="0" tIns="0" rIns="0" bIns="0" rtlCol="0"/>
          <a:lstStyle/>
          <a:p>
            <a:endParaRPr dirty="0"/>
          </a:p>
        </p:txBody>
      </p:sp>
      <p:sp>
        <p:nvSpPr>
          <p:cNvPr id="31" name="bg object 31"/>
          <p:cNvSpPr/>
          <p:nvPr/>
        </p:nvSpPr>
        <p:spPr>
          <a:xfrm>
            <a:off x="11340083" y="5241036"/>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5"/>
                </a:lnTo>
                <a:lnTo>
                  <a:pt x="7303" y="173479"/>
                </a:lnTo>
                <a:lnTo>
                  <a:pt x="27639" y="209665"/>
                </a:lnTo>
                <a:lnTo>
                  <a:pt x="58649" y="238207"/>
                </a:lnTo>
                <a:lnTo>
                  <a:pt x="97974" y="256928"/>
                </a:lnTo>
                <a:lnTo>
                  <a:pt x="143256" y="263651"/>
                </a:lnTo>
                <a:lnTo>
                  <a:pt x="188537" y="256928"/>
                </a:lnTo>
                <a:lnTo>
                  <a:pt x="227862" y="238207"/>
                </a:lnTo>
                <a:lnTo>
                  <a:pt x="258872" y="209665"/>
                </a:lnTo>
                <a:lnTo>
                  <a:pt x="279208" y="173479"/>
                </a:lnTo>
                <a:lnTo>
                  <a:pt x="286512" y="131825"/>
                </a:lnTo>
                <a:lnTo>
                  <a:pt x="279208" y="90172"/>
                </a:lnTo>
                <a:lnTo>
                  <a:pt x="258872" y="53986"/>
                </a:lnTo>
                <a:lnTo>
                  <a:pt x="227862" y="25444"/>
                </a:lnTo>
                <a:lnTo>
                  <a:pt x="188537" y="6723"/>
                </a:lnTo>
                <a:lnTo>
                  <a:pt x="143256" y="0"/>
                </a:lnTo>
                <a:close/>
              </a:path>
            </a:pathLst>
          </a:custGeom>
          <a:solidFill>
            <a:srgbClr val="FF99FF"/>
          </a:solidFill>
        </p:spPr>
        <p:txBody>
          <a:bodyPr wrap="square" lIns="0" tIns="0" rIns="0" bIns="0" rtlCol="0"/>
          <a:lstStyle/>
          <a:p>
            <a:endParaRPr dirty="0"/>
          </a:p>
        </p:txBody>
      </p:sp>
      <p:sp>
        <p:nvSpPr>
          <p:cNvPr id="32" name="bg object 32"/>
          <p:cNvSpPr/>
          <p:nvPr/>
        </p:nvSpPr>
        <p:spPr>
          <a:xfrm>
            <a:off x="11340083" y="5241036"/>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5"/>
                </a:lnTo>
                <a:lnTo>
                  <a:pt x="279208" y="173479"/>
                </a:lnTo>
                <a:lnTo>
                  <a:pt x="258872" y="209665"/>
                </a:lnTo>
                <a:lnTo>
                  <a:pt x="227862" y="238207"/>
                </a:lnTo>
                <a:lnTo>
                  <a:pt x="188537" y="256928"/>
                </a:lnTo>
                <a:lnTo>
                  <a:pt x="143256" y="263651"/>
                </a:lnTo>
                <a:lnTo>
                  <a:pt x="97974" y="256928"/>
                </a:lnTo>
                <a:lnTo>
                  <a:pt x="58649" y="238207"/>
                </a:lnTo>
                <a:lnTo>
                  <a:pt x="27639" y="209665"/>
                </a:lnTo>
                <a:lnTo>
                  <a:pt x="7303" y="173479"/>
                </a:lnTo>
                <a:lnTo>
                  <a:pt x="0" y="131825"/>
                </a:lnTo>
                <a:lnTo>
                  <a:pt x="7303" y="90172"/>
                </a:lnTo>
                <a:lnTo>
                  <a:pt x="27639" y="53986"/>
                </a:lnTo>
                <a:lnTo>
                  <a:pt x="58649" y="25444"/>
                </a:lnTo>
                <a:lnTo>
                  <a:pt x="97974" y="6723"/>
                </a:lnTo>
                <a:lnTo>
                  <a:pt x="143256" y="0"/>
                </a:lnTo>
                <a:close/>
              </a:path>
            </a:pathLst>
          </a:custGeom>
          <a:ln w="12700">
            <a:solidFill>
              <a:srgbClr val="FF99FF"/>
            </a:solidFill>
          </a:ln>
        </p:spPr>
        <p:txBody>
          <a:bodyPr wrap="square" lIns="0" tIns="0" rIns="0" bIns="0" rtlCol="0"/>
          <a:lstStyle/>
          <a:p>
            <a:endParaRPr dirty="0"/>
          </a:p>
        </p:txBody>
      </p:sp>
      <p:sp>
        <p:nvSpPr>
          <p:cNvPr id="33" name="bg object 33"/>
          <p:cNvSpPr/>
          <p:nvPr/>
        </p:nvSpPr>
        <p:spPr>
          <a:xfrm>
            <a:off x="11340083" y="5501640"/>
            <a:ext cx="287020" cy="264160"/>
          </a:xfrm>
          <a:custGeom>
            <a:avLst/>
            <a:gdLst/>
            <a:ahLst/>
            <a:cxnLst/>
            <a:rect l="l" t="t" r="r" b="b"/>
            <a:pathLst>
              <a:path w="287020" h="264160">
                <a:moveTo>
                  <a:pt x="143256" y="0"/>
                </a:moveTo>
                <a:lnTo>
                  <a:pt x="97974" y="6723"/>
                </a:lnTo>
                <a:lnTo>
                  <a:pt x="58649" y="25444"/>
                </a:lnTo>
                <a:lnTo>
                  <a:pt x="27639" y="53986"/>
                </a:lnTo>
                <a:lnTo>
                  <a:pt x="7303" y="90172"/>
                </a:lnTo>
                <a:lnTo>
                  <a:pt x="0" y="131826"/>
                </a:lnTo>
                <a:lnTo>
                  <a:pt x="7303" y="173494"/>
                </a:lnTo>
                <a:lnTo>
                  <a:pt x="27639" y="209682"/>
                </a:lnTo>
                <a:lnTo>
                  <a:pt x="58649" y="238218"/>
                </a:lnTo>
                <a:lnTo>
                  <a:pt x="97974" y="256931"/>
                </a:lnTo>
                <a:lnTo>
                  <a:pt x="143256" y="263652"/>
                </a:lnTo>
                <a:lnTo>
                  <a:pt x="188537" y="256931"/>
                </a:lnTo>
                <a:lnTo>
                  <a:pt x="227862" y="238218"/>
                </a:lnTo>
                <a:lnTo>
                  <a:pt x="258872" y="209682"/>
                </a:lnTo>
                <a:lnTo>
                  <a:pt x="279208" y="173494"/>
                </a:lnTo>
                <a:lnTo>
                  <a:pt x="286512" y="131826"/>
                </a:lnTo>
                <a:lnTo>
                  <a:pt x="279208" y="90172"/>
                </a:lnTo>
                <a:lnTo>
                  <a:pt x="258872" y="53986"/>
                </a:lnTo>
                <a:lnTo>
                  <a:pt x="227862" y="25444"/>
                </a:lnTo>
                <a:lnTo>
                  <a:pt x="188537" y="6723"/>
                </a:lnTo>
                <a:lnTo>
                  <a:pt x="143256" y="0"/>
                </a:lnTo>
                <a:close/>
              </a:path>
            </a:pathLst>
          </a:custGeom>
          <a:solidFill>
            <a:srgbClr val="00CCFF"/>
          </a:solidFill>
        </p:spPr>
        <p:txBody>
          <a:bodyPr wrap="square" lIns="0" tIns="0" rIns="0" bIns="0" rtlCol="0"/>
          <a:lstStyle/>
          <a:p>
            <a:endParaRPr dirty="0"/>
          </a:p>
        </p:txBody>
      </p:sp>
      <p:sp>
        <p:nvSpPr>
          <p:cNvPr id="34" name="bg object 34"/>
          <p:cNvSpPr/>
          <p:nvPr/>
        </p:nvSpPr>
        <p:spPr>
          <a:xfrm>
            <a:off x="11340083" y="5501640"/>
            <a:ext cx="287020" cy="264160"/>
          </a:xfrm>
          <a:custGeom>
            <a:avLst/>
            <a:gdLst/>
            <a:ahLst/>
            <a:cxnLst/>
            <a:rect l="l" t="t" r="r" b="b"/>
            <a:pathLst>
              <a:path w="287020" h="264160">
                <a:moveTo>
                  <a:pt x="143256" y="0"/>
                </a:moveTo>
                <a:lnTo>
                  <a:pt x="188537" y="6723"/>
                </a:lnTo>
                <a:lnTo>
                  <a:pt x="227862" y="25444"/>
                </a:lnTo>
                <a:lnTo>
                  <a:pt x="258872" y="53986"/>
                </a:lnTo>
                <a:lnTo>
                  <a:pt x="279208" y="90172"/>
                </a:lnTo>
                <a:lnTo>
                  <a:pt x="286512" y="131826"/>
                </a:lnTo>
                <a:lnTo>
                  <a:pt x="279208" y="173494"/>
                </a:lnTo>
                <a:lnTo>
                  <a:pt x="258872" y="209682"/>
                </a:lnTo>
                <a:lnTo>
                  <a:pt x="227862" y="238218"/>
                </a:lnTo>
                <a:lnTo>
                  <a:pt x="188537" y="256931"/>
                </a:lnTo>
                <a:lnTo>
                  <a:pt x="143256" y="263652"/>
                </a:lnTo>
                <a:lnTo>
                  <a:pt x="97974" y="256931"/>
                </a:lnTo>
                <a:lnTo>
                  <a:pt x="58649" y="238218"/>
                </a:lnTo>
                <a:lnTo>
                  <a:pt x="27639" y="209682"/>
                </a:lnTo>
                <a:lnTo>
                  <a:pt x="7303" y="173494"/>
                </a:lnTo>
                <a:lnTo>
                  <a:pt x="0" y="131826"/>
                </a:lnTo>
                <a:lnTo>
                  <a:pt x="7303" y="90172"/>
                </a:lnTo>
                <a:lnTo>
                  <a:pt x="27639" y="53986"/>
                </a:lnTo>
                <a:lnTo>
                  <a:pt x="58649" y="25444"/>
                </a:lnTo>
                <a:lnTo>
                  <a:pt x="97974" y="6723"/>
                </a:lnTo>
                <a:lnTo>
                  <a:pt x="143256" y="0"/>
                </a:lnTo>
                <a:close/>
              </a:path>
            </a:pathLst>
          </a:custGeom>
          <a:ln w="12700">
            <a:solidFill>
              <a:srgbClr val="00CCFF"/>
            </a:solidFill>
          </a:ln>
        </p:spPr>
        <p:txBody>
          <a:bodyPr wrap="square" lIns="0" tIns="0" rIns="0" bIns="0" rtlCol="0"/>
          <a:lstStyle/>
          <a:p>
            <a:endParaRPr dirty="0"/>
          </a:p>
        </p:txBody>
      </p:sp>
      <p:pic>
        <p:nvPicPr>
          <p:cNvPr id="35" name="bg object 35"/>
          <p:cNvPicPr/>
          <p:nvPr/>
        </p:nvPicPr>
        <p:blipFill>
          <a:blip r:embed="rId9"/>
          <a:srcRect/>
          <a:stretch>
            <a:fillRect/>
          </a:stretch>
        </p:blipFill>
        <p:spPr>
          <a:xfrm>
            <a:off x="797001" y="6002964"/>
            <a:ext cx="2717392" cy="373448"/>
          </a:xfrm>
          <a:prstGeom prst="rect">
            <a:avLst/>
          </a:prstGeom>
        </p:spPr>
      </p:pic>
      <p:sp>
        <p:nvSpPr>
          <p:cNvPr id="36" name="bg object 36"/>
          <p:cNvSpPr/>
          <p:nvPr/>
        </p:nvSpPr>
        <p:spPr>
          <a:xfrm>
            <a:off x="838200" y="6082283"/>
            <a:ext cx="289560" cy="287020"/>
          </a:xfrm>
          <a:custGeom>
            <a:avLst/>
            <a:gdLst/>
            <a:ahLst/>
            <a:cxnLst/>
            <a:rect l="l" t="t" r="r" b="b"/>
            <a:pathLst>
              <a:path w="289559" h="287020">
                <a:moveTo>
                  <a:pt x="144780" y="0"/>
                </a:moveTo>
                <a:lnTo>
                  <a:pt x="99018" y="7303"/>
                </a:lnTo>
                <a:lnTo>
                  <a:pt x="59275" y="27639"/>
                </a:lnTo>
                <a:lnTo>
                  <a:pt x="27934" y="58649"/>
                </a:lnTo>
                <a:lnTo>
                  <a:pt x="7381" y="97974"/>
                </a:lnTo>
                <a:lnTo>
                  <a:pt x="0" y="143255"/>
                </a:lnTo>
                <a:lnTo>
                  <a:pt x="7381" y="188537"/>
                </a:lnTo>
                <a:lnTo>
                  <a:pt x="27934" y="227862"/>
                </a:lnTo>
                <a:lnTo>
                  <a:pt x="59275" y="258872"/>
                </a:lnTo>
                <a:lnTo>
                  <a:pt x="99018" y="279208"/>
                </a:lnTo>
                <a:lnTo>
                  <a:pt x="144780" y="286511"/>
                </a:lnTo>
                <a:lnTo>
                  <a:pt x="190541" y="279208"/>
                </a:lnTo>
                <a:lnTo>
                  <a:pt x="230284" y="258872"/>
                </a:lnTo>
                <a:lnTo>
                  <a:pt x="261625" y="227862"/>
                </a:lnTo>
                <a:lnTo>
                  <a:pt x="282178" y="188537"/>
                </a:lnTo>
                <a:lnTo>
                  <a:pt x="289559" y="143255"/>
                </a:lnTo>
                <a:lnTo>
                  <a:pt x="282178" y="97974"/>
                </a:lnTo>
                <a:lnTo>
                  <a:pt x="261625" y="58649"/>
                </a:lnTo>
                <a:lnTo>
                  <a:pt x="230284" y="27639"/>
                </a:lnTo>
                <a:lnTo>
                  <a:pt x="190541" y="7303"/>
                </a:lnTo>
                <a:lnTo>
                  <a:pt x="144780" y="0"/>
                </a:lnTo>
                <a:close/>
              </a:path>
            </a:pathLst>
          </a:custGeom>
          <a:solidFill>
            <a:srgbClr val="FF0000"/>
          </a:solidFill>
        </p:spPr>
        <p:txBody>
          <a:bodyPr wrap="square" lIns="0" tIns="0" rIns="0" bIns="0" rtlCol="0"/>
          <a:lstStyle/>
          <a:p>
            <a:endParaRPr dirty="0"/>
          </a:p>
        </p:txBody>
      </p:sp>
      <p:sp>
        <p:nvSpPr>
          <p:cNvPr id="37" name="bg object 37"/>
          <p:cNvSpPr/>
          <p:nvPr/>
        </p:nvSpPr>
        <p:spPr>
          <a:xfrm>
            <a:off x="838200" y="6082283"/>
            <a:ext cx="289560" cy="287020"/>
          </a:xfrm>
          <a:custGeom>
            <a:avLst/>
            <a:gdLst/>
            <a:ahLst/>
            <a:cxnLst/>
            <a:rect l="l" t="t" r="r" b="b"/>
            <a:pathLst>
              <a:path w="289559" h="287020">
                <a:moveTo>
                  <a:pt x="0" y="143255"/>
                </a:moveTo>
                <a:lnTo>
                  <a:pt x="7381" y="97974"/>
                </a:lnTo>
                <a:lnTo>
                  <a:pt x="27934" y="58649"/>
                </a:lnTo>
                <a:lnTo>
                  <a:pt x="59275" y="27639"/>
                </a:lnTo>
                <a:lnTo>
                  <a:pt x="99018" y="7303"/>
                </a:lnTo>
                <a:lnTo>
                  <a:pt x="144780" y="0"/>
                </a:lnTo>
                <a:lnTo>
                  <a:pt x="190541" y="7303"/>
                </a:lnTo>
                <a:lnTo>
                  <a:pt x="230284" y="27639"/>
                </a:lnTo>
                <a:lnTo>
                  <a:pt x="261625" y="58649"/>
                </a:lnTo>
                <a:lnTo>
                  <a:pt x="282178" y="97974"/>
                </a:lnTo>
                <a:lnTo>
                  <a:pt x="289559" y="143255"/>
                </a:lnTo>
                <a:lnTo>
                  <a:pt x="282178" y="188537"/>
                </a:lnTo>
                <a:lnTo>
                  <a:pt x="261625" y="227862"/>
                </a:lnTo>
                <a:lnTo>
                  <a:pt x="230284" y="258872"/>
                </a:lnTo>
                <a:lnTo>
                  <a:pt x="190541" y="279208"/>
                </a:lnTo>
                <a:lnTo>
                  <a:pt x="144780" y="286511"/>
                </a:lnTo>
                <a:lnTo>
                  <a:pt x="99018" y="279208"/>
                </a:lnTo>
                <a:lnTo>
                  <a:pt x="59275" y="258872"/>
                </a:lnTo>
                <a:lnTo>
                  <a:pt x="27934" y="227862"/>
                </a:lnTo>
                <a:lnTo>
                  <a:pt x="7381" y="188537"/>
                </a:lnTo>
                <a:lnTo>
                  <a:pt x="0" y="143255"/>
                </a:lnTo>
                <a:close/>
              </a:path>
            </a:pathLst>
          </a:custGeom>
          <a:ln w="12699">
            <a:solidFill>
              <a:srgbClr val="FF0000"/>
            </a:solidFill>
          </a:ln>
        </p:spPr>
        <p:txBody>
          <a:bodyPr wrap="square" lIns="0" tIns="0" rIns="0" bIns="0" rtlCol="0"/>
          <a:lstStyle/>
          <a:p>
            <a:endParaRPr dirty="0"/>
          </a:p>
        </p:txBody>
      </p:sp>
      <p:sp>
        <p:nvSpPr>
          <p:cNvPr id="38" name="bg object 38"/>
          <p:cNvSpPr/>
          <p:nvPr/>
        </p:nvSpPr>
        <p:spPr>
          <a:xfrm>
            <a:off x="1127760" y="6082283"/>
            <a:ext cx="289560" cy="287020"/>
          </a:xfrm>
          <a:custGeom>
            <a:avLst/>
            <a:gdLst/>
            <a:ahLst/>
            <a:cxnLst/>
            <a:rect l="l" t="t" r="r" b="b"/>
            <a:pathLst>
              <a:path w="289559" h="287020">
                <a:moveTo>
                  <a:pt x="144780" y="0"/>
                </a:moveTo>
                <a:lnTo>
                  <a:pt x="99018" y="7303"/>
                </a:lnTo>
                <a:lnTo>
                  <a:pt x="59275" y="27639"/>
                </a:lnTo>
                <a:lnTo>
                  <a:pt x="27934" y="58649"/>
                </a:lnTo>
                <a:lnTo>
                  <a:pt x="7381" y="97974"/>
                </a:lnTo>
                <a:lnTo>
                  <a:pt x="0" y="143255"/>
                </a:lnTo>
                <a:lnTo>
                  <a:pt x="7381" y="188537"/>
                </a:lnTo>
                <a:lnTo>
                  <a:pt x="27934" y="227862"/>
                </a:lnTo>
                <a:lnTo>
                  <a:pt x="59275" y="258872"/>
                </a:lnTo>
                <a:lnTo>
                  <a:pt x="99018" y="279208"/>
                </a:lnTo>
                <a:lnTo>
                  <a:pt x="144780"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80" y="0"/>
                </a:lnTo>
                <a:close/>
              </a:path>
            </a:pathLst>
          </a:custGeom>
          <a:solidFill>
            <a:srgbClr val="3333FF"/>
          </a:solidFill>
        </p:spPr>
        <p:txBody>
          <a:bodyPr wrap="square" lIns="0" tIns="0" rIns="0" bIns="0" rtlCol="0"/>
          <a:lstStyle/>
          <a:p>
            <a:endParaRPr dirty="0"/>
          </a:p>
        </p:txBody>
      </p:sp>
      <p:sp>
        <p:nvSpPr>
          <p:cNvPr id="39" name="bg object 39"/>
          <p:cNvSpPr/>
          <p:nvPr/>
        </p:nvSpPr>
        <p:spPr>
          <a:xfrm>
            <a:off x="1127760" y="6082283"/>
            <a:ext cx="289560" cy="287020"/>
          </a:xfrm>
          <a:custGeom>
            <a:avLst/>
            <a:gdLst/>
            <a:ahLst/>
            <a:cxnLst/>
            <a:rect l="l" t="t" r="r" b="b"/>
            <a:pathLst>
              <a:path w="289559" h="287020">
                <a:moveTo>
                  <a:pt x="0" y="143255"/>
                </a:moveTo>
                <a:lnTo>
                  <a:pt x="7381" y="97974"/>
                </a:lnTo>
                <a:lnTo>
                  <a:pt x="27934" y="58649"/>
                </a:lnTo>
                <a:lnTo>
                  <a:pt x="59275" y="27639"/>
                </a:lnTo>
                <a:lnTo>
                  <a:pt x="99018" y="7303"/>
                </a:lnTo>
                <a:lnTo>
                  <a:pt x="144780"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80" y="286511"/>
                </a:lnTo>
                <a:lnTo>
                  <a:pt x="99018" y="279208"/>
                </a:lnTo>
                <a:lnTo>
                  <a:pt x="59275" y="258872"/>
                </a:lnTo>
                <a:lnTo>
                  <a:pt x="27934" y="227862"/>
                </a:lnTo>
                <a:lnTo>
                  <a:pt x="7381" y="188537"/>
                </a:lnTo>
                <a:lnTo>
                  <a:pt x="0" y="143255"/>
                </a:lnTo>
                <a:close/>
              </a:path>
            </a:pathLst>
          </a:custGeom>
          <a:ln w="12699">
            <a:solidFill>
              <a:srgbClr val="3333FF"/>
            </a:solidFill>
          </a:ln>
        </p:spPr>
        <p:txBody>
          <a:bodyPr wrap="square" lIns="0" tIns="0" rIns="0" bIns="0" rtlCol="0"/>
          <a:lstStyle/>
          <a:p>
            <a:endParaRPr dirty="0"/>
          </a:p>
        </p:txBody>
      </p:sp>
      <p:sp>
        <p:nvSpPr>
          <p:cNvPr id="40" name="bg object 40"/>
          <p:cNvSpPr/>
          <p:nvPr/>
        </p:nvSpPr>
        <p:spPr>
          <a:xfrm>
            <a:off x="1429512" y="6082283"/>
            <a:ext cx="289560" cy="287020"/>
          </a:xfrm>
          <a:custGeom>
            <a:avLst/>
            <a:gdLst/>
            <a:ahLst/>
            <a:cxnLst/>
            <a:rect l="l" t="t" r="r" b="b"/>
            <a:pathLst>
              <a:path w="289560" h="287020">
                <a:moveTo>
                  <a:pt x="144779"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79" y="286511"/>
                </a:lnTo>
                <a:lnTo>
                  <a:pt x="190560" y="279208"/>
                </a:lnTo>
                <a:lnTo>
                  <a:pt x="230306" y="258872"/>
                </a:lnTo>
                <a:lnTo>
                  <a:pt x="261640" y="227862"/>
                </a:lnTo>
                <a:lnTo>
                  <a:pt x="282183" y="188537"/>
                </a:lnTo>
                <a:lnTo>
                  <a:pt x="289560" y="143255"/>
                </a:lnTo>
                <a:lnTo>
                  <a:pt x="282183" y="97974"/>
                </a:lnTo>
                <a:lnTo>
                  <a:pt x="261640" y="58649"/>
                </a:lnTo>
                <a:lnTo>
                  <a:pt x="230306" y="27639"/>
                </a:lnTo>
                <a:lnTo>
                  <a:pt x="190560" y="7303"/>
                </a:lnTo>
                <a:lnTo>
                  <a:pt x="144779" y="0"/>
                </a:lnTo>
                <a:close/>
              </a:path>
            </a:pathLst>
          </a:custGeom>
          <a:solidFill>
            <a:srgbClr val="FFFF00"/>
          </a:solidFill>
        </p:spPr>
        <p:txBody>
          <a:bodyPr wrap="square" lIns="0" tIns="0" rIns="0" bIns="0" rtlCol="0"/>
          <a:lstStyle/>
          <a:p>
            <a:endParaRPr dirty="0"/>
          </a:p>
        </p:txBody>
      </p:sp>
      <p:sp>
        <p:nvSpPr>
          <p:cNvPr id="41" name="bg object 41"/>
          <p:cNvSpPr/>
          <p:nvPr/>
        </p:nvSpPr>
        <p:spPr>
          <a:xfrm>
            <a:off x="1429512"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79" y="0"/>
                </a:lnTo>
                <a:lnTo>
                  <a:pt x="190560" y="7303"/>
                </a:lnTo>
                <a:lnTo>
                  <a:pt x="230306" y="27639"/>
                </a:lnTo>
                <a:lnTo>
                  <a:pt x="261640" y="58649"/>
                </a:lnTo>
                <a:lnTo>
                  <a:pt x="282183" y="97974"/>
                </a:lnTo>
                <a:lnTo>
                  <a:pt x="289560" y="143255"/>
                </a:lnTo>
                <a:lnTo>
                  <a:pt x="282183" y="188537"/>
                </a:lnTo>
                <a:lnTo>
                  <a:pt x="261640" y="227862"/>
                </a:lnTo>
                <a:lnTo>
                  <a:pt x="230306" y="258872"/>
                </a:lnTo>
                <a:lnTo>
                  <a:pt x="190560" y="279208"/>
                </a:lnTo>
                <a:lnTo>
                  <a:pt x="144779" y="286511"/>
                </a:lnTo>
                <a:lnTo>
                  <a:pt x="98999" y="279208"/>
                </a:lnTo>
                <a:lnTo>
                  <a:pt x="59253" y="258872"/>
                </a:lnTo>
                <a:lnTo>
                  <a:pt x="27919" y="227862"/>
                </a:lnTo>
                <a:lnTo>
                  <a:pt x="7376" y="188537"/>
                </a:lnTo>
                <a:lnTo>
                  <a:pt x="0" y="143255"/>
                </a:lnTo>
                <a:close/>
              </a:path>
            </a:pathLst>
          </a:custGeom>
          <a:ln w="12700">
            <a:solidFill>
              <a:srgbClr val="FFFF00"/>
            </a:solidFill>
          </a:ln>
        </p:spPr>
        <p:txBody>
          <a:bodyPr wrap="square" lIns="0" tIns="0" rIns="0" bIns="0" rtlCol="0"/>
          <a:lstStyle/>
          <a:p>
            <a:endParaRPr dirty="0"/>
          </a:p>
        </p:txBody>
      </p:sp>
      <p:sp>
        <p:nvSpPr>
          <p:cNvPr id="42" name="bg object 42"/>
          <p:cNvSpPr/>
          <p:nvPr/>
        </p:nvSpPr>
        <p:spPr>
          <a:xfrm>
            <a:off x="1729739"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60" y="143255"/>
                </a:lnTo>
                <a:lnTo>
                  <a:pt x="282183" y="97974"/>
                </a:lnTo>
                <a:lnTo>
                  <a:pt x="261640" y="58649"/>
                </a:lnTo>
                <a:lnTo>
                  <a:pt x="230306" y="27639"/>
                </a:lnTo>
                <a:lnTo>
                  <a:pt x="190560" y="7303"/>
                </a:lnTo>
                <a:lnTo>
                  <a:pt x="144780" y="0"/>
                </a:lnTo>
                <a:close/>
              </a:path>
            </a:pathLst>
          </a:custGeom>
          <a:solidFill>
            <a:srgbClr val="00AF50"/>
          </a:solidFill>
        </p:spPr>
        <p:txBody>
          <a:bodyPr wrap="square" lIns="0" tIns="0" rIns="0" bIns="0" rtlCol="0"/>
          <a:lstStyle/>
          <a:p>
            <a:endParaRPr dirty="0"/>
          </a:p>
        </p:txBody>
      </p:sp>
      <p:sp>
        <p:nvSpPr>
          <p:cNvPr id="43" name="bg object 43"/>
          <p:cNvSpPr/>
          <p:nvPr/>
        </p:nvSpPr>
        <p:spPr>
          <a:xfrm>
            <a:off x="1729739"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60"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00AF50"/>
            </a:solidFill>
          </a:ln>
        </p:spPr>
        <p:txBody>
          <a:bodyPr wrap="square" lIns="0" tIns="0" rIns="0" bIns="0" rtlCol="0"/>
          <a:lstStyle/>
          <a:p>
            <a:endParaRPr dirty="0"/>
          </a:p>
        </p:txBody>
      </p:sp>
      <p:sp>
        <p:nvSpPr>
          <p:cNvPr id="44" name="bg object 44"/>
          <p:cNvSpPr/>
          <p:nvPr/>
        </p:nvSpPr>
        <p:spPr>
          <a:xfrm>
            <a:off x="2019300"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60" y="143255"/>
                </a:lnTo>
                <a:lnTo>
                  <a:pt x="282183" y="97974"/>
                </a:lnTo>
                <a:lnTo>
                  <a:pt x="261640" y="58649"/>
                </a:lnTo>
                <a:lnTo>
                  <a:pt x="230306" y="27639"/>
                </a:lnTo>
                <a:lnTo>
                  <a:pt x="190560" y="7303"/>
                </a:lnTo>
                <a:lnTo>
                  <a:pt x="144780" y="0"/>
                </a:lnTo>
                <a:close/>
              </a:path>
            </a:pathLst>
          </a:custGeom>
          <a:solidFill>
            <a:srgbClr val="BEBEBE"/>
          </a:solidFill>
        </p:spPr>
        <p:txBody>
          <a:bodyPr wrap="square" lIns="0" tIns="0" rIns="0" bIns="0" rtlCol="0"/>
          <a:lstStyle/>
          <a:p>
            <a:endParaRPr dirty="0"/>
          </a:p>
        </p:txBody>
      </p:sp>
      <p:sp>
        <p:nvSpPr>
          <p:cNvPr id="45" name="bg object 45"/>
          <p:cNvSpPr/>
          <p:nvPr/>
        </p:nvSpPr>
        <p:spPr>
          <a:xfrm>
            <a:off x="2019300"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60"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BEBEBE"/>
            </a:solidFill>
          </a:ln>
        </p:spPr>
        <p:txBody>
          <a:bodyPr wrap="square" lIns="0" tIns="0" rIns="0" bIns="0" rtlCol="0"/>
          <a:lstStyle/>
          <a:p>
            <a:endParaRPr dirty="0"/>
          </a:p>
        </p:txBody>
      </p:sp>
      <p:sp>
        <p:nvSpPr>
          <p:cNvPr id="46" name="bg object 46"/>
          <p:cNvSpPr/>
          <p:nvPr/>
        </p:nvSpPr>
        <p:spPr>
          <a:xfrm>
            <a:off x="2308860" y="6082283"/>
            <a:ext cx="289560" cy="287020"/>
          </a:xfrm>
          <a:custGeom>
            <a:avLst/>
            <a:gdLst/>
            <a:ahLst/>
            <a:cxnLst/>
            <a:rect l="l" t="t" r="r" b="b"/>
            <a:pathLst>
              <a:path w="289560" h="287020">
                <a:moveTo>
                  <a:pt x="144779"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79"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79" y="0"/>
                </a:lnTo>
                <a:close/>
              </a:path>
            </a:pathLst>
          </a:custGeom>
          <a:solidFill>
            <a:srgbClr val="FFFFFF"/>
          </a:solidFill>
        </p:spPr>
        <p:txBody>
          <a:bodyPr wrap="square" lIns="0" tIns="0" rIns="0" bIns="0" rtlCol="0"/>
          <a:lstStyle/>
          <a:p>
            <a:endParaRPr dirty="0"/>
          </a:p>
        </p:txBody>
      </p:sp>
      <p:sp>
        <p:nvSpPr>
          <p:cNvPr id="47" name="bg object 47"/>
          <p:cNvSpPr/>
          <p:nvPr/>
        </p:nvSpPr>
        <p:spPr>
          <a:xfrm>
            <a:off x="2308860"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79"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79" y="286511"/>
                </a:lnTo>
                <a:lnTo>
                  <a:pt x="98999" y="279208"/>
                </a:lnTo>
                <a:lnTo>
                  <a:pt x="59253" y="258872"/>
                </a:lnTo>
                <a:lnTo>
                  <a:pt x="27919" y="227862"/>
                </a:lnTo>
                <a:lnTo>
                  <a:pt x="7376" y="188537"/>
                </a:lnTo>
                <a:lnTo>
                  <a:pt x="0" y="143255"/>
                </a:lnTo>
                <a:close/>
              </a:path>
            </a:pathLst>
          </a:custGeom>
          <a:ln w="12700">
            <a:solidFill>
              <a:srgbClr val="D9D9D9"/>
            </a:solidFill>
          </a:ln>
        </p:spPr>
        <p:txBody>
          <a:bodyPr wrap="square" lIns="0" tIns="0" rIns="0" bIns="0" rtlCol="0"/>
          <a:lstStyle/>
          <a:p>
            <a:endParaRPr dirty="0"/>
          </a:p>
        </p:txBody>
      </p:sp>
      <p:sp>
        <p:nvSpPr>
          <p:cNvPr id="48" name="bg object 48"/>
          <p:cNvSpPr/>
          <p:nvPr/>
        </p:nvSpPr>
        <p:spPr>
          <a:xfrm>
            <a:off x="2601467"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80" y="0"/>
                </a:lnTo>
                <a:close/>
              </a:path>
            </a:pathLst>
          </a:custGeom>
          <a:solidFill>
            <a:srgbClr val="FFC000"/>
          </a:solidFill>
        </p:spPr>
        <p:txBody>
          <a:bodyPr wrap="square" lIns="0" tIns="0" rIns="0" bIns="0" rtlCol="0"/>
          <a:lstStyle/>
          <a:p>
            <a:endParaRPr dirty="0"/>
          </a:p>
        </p:txBody>
      </p:sp>
      <p:sp>
        <p:nvSpPr>
          <p:cNvPr id="49" name="bg object 49"/>
          <p:cNvSpPr/>
          <p:nvPr/>
        </p:nvSpPr>
        <p:spPr>
          <a:xfrm>
            <a:off x="2601467"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FFC000"/>
            </a:solidFill>
          </a:ln>
        </p:spPr>
        <p:txBody>
          <a:bodyPr wrap="square" lIns="0" tIns="0" rIns="0" bIns="0" rtlCol="0"/>
          <a:lstStyle/>
          <a:p>
            <a:endParaRPr dirty="0"/>
          </a:p>
        </p:txBody>
      </p:sp>
      <p:sp>
        <p:nvSpPr>
          <p:cNvPr id="50" name="bg object 50"/>
          <p:cNvSpPr/>
          <p:nvPr/>
        </p:nvSpPr>
        <p:spPr>
          <a:xfrm>
            <a:off x="2900172" y="6082283"/>
            <a:ext cx="289560" cy="287020"/>
          </a:xfrm>
          <a:custGeom>
            <a:avLst/>
            <a:gdLst/>
            <a:ahLst/>
            <a:cxnLst/>
            <a:rect l="l" t="t" r="r" b="b"/>
            <a:pathLst>
              <a:path w="289560" h="287020">
                <a:moveTo>
                  <a:pt x="144779"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79"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79" y="0"/>
                </a:lnTo>
                <a:close/>
              </a:path>
            </a:pathLst>
          </a:custGeom>
          <a:solidFill>
            <a:srgbClr val="FF99FF"/>
          </a:solidFill>
        </p:spPr>
        <p:txBody>
          <a:bodyPr wrap="square" lIns="0" tIns="0" rIns="0" bIns="0" rtlCol="0"/>
          <a:lstStyle/>
          <a:p>
            <a:endParaRPr dirty="0"/>
          </a:p>
        </p:txBody>
      </p:sp>
      <p:sp>
        <p:nvSpPr>
          <p:cNvPr id="51" name="bg object 51"/>
          <p:cNvSpPr/>
          <p:nvPr/>
        </p:nvSpPr>
        <p:spPr>
          <a:xfrm>
            <a:off x="2900172"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79"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79" y="286511"/>
                </a:lnTo>
                <a:lnTo>
                  <a:pt x="98999" y="279208"/>
                </a:lnTo>
                <a:lnTo>
                  <a:pt x="59253" y="258872"/>
                </a:lnTo>
                <a:lnTo>
                  <a:pt x="27919" y="227862"/>
                </a:lnTo>
                <a:lnTo>
                  <a:pt x="7376" y="188537"/>
                </a:lnTo>
                <a:lnTo>
                  <a:pt x="0" y="143255"/>
                </a:lnTo>
                <a:close/>
              </a:path>
            </a:pathLst>
          </a:custGeom>
          <a:ln w="12700">
            <a:solidFill>
              <a:srgbClr val="FF99FF"/>
            </a:solidFill>
          </a:ln>
        </p:spPr>
        <p:txBody>
          <a:bodyPr wrap="square" lIns="0" tIns="0" rIns="0" bIns="0" rtlCol="0"/>
          <a:lstStyle/>
          <a:p>
            <a:endParaRPr dirty="0"/>
          </a:p>
        </p:txBody>
      </p:sp>
      <p:sp>
        <p:nvSpPr>
          <p:cNvPr id="52" name="bg object 52"/>
          <p:cNvSpPr/>
          <p:nvPr/>
        </p:nvSpPr>
        <p:spPr>
          <a:xfrm>
            <a:off x="3188207" y="6082283"/>
            <a:ext cx="289560" cy="287020"/>
          </a:xfrm>
          <a:custGeom>
            <a:avLst/>
            <a:gdLst/>
            <a:ahLst/>
            <a:cxnLst/>
            <a:rect l="l" t="t" r="r" b="b"/>
            <a:pathLst>
              <a:path w="289560" h="287020">
                <a:moveTo>
                  <a:pt x="144780" y="0"/>
                </a:moveTo>
                <a:lnTo>
                  <a:pt x="98999" y="7303"/>
                </a:lnTo>
                <a:lnTo>
                  <a:pt x="59253" y="27639"/>
                </a:lnTo>
                <a:lnTo>
                  <a:pt x="27919" y="58649"/>
                </a:lnTo>
                <a:lnTo>
                  <a:pt x="7376" y="97974"/>
                </a:lnTo>
                <a:lnTo>
                  <a:pt x="0" y="143255"/>
                </a:lnTo>
                <a:lnTo>
                  <a:pt x="7376" y="188537"/>
                </a:lnTo>
                <a:lnTo>
                  <a:pt x="27919" y="227862"/>
                </a:lnTo>
                <a:lnTo>
                  <a:pt x="59253" y="258872"/>
                </a:lnTo>
                <a:lnTo>
                  <a:pt x="98999" y="279208"/>
                </a:lnTo>
                <a:lnTo>
                  <a:pt x="144780" y="286511"/>
                </a:lnTo>
                <a:lnTo>
                  <a:pt x="190560" y="279208"/>
                </a:lnTo>
                <a:lnTo>
                  <a:pt x="230306" y="258872"/>
                </a:lnTo>
                <a:lnTo>
                  <a:pt x="261640" y="227862"/>
                </a:lnTo>
                <a:lnTo>
                  <a:pt x="282183" y="188537"/>
                </a:lnTo>
                <a:lnTo>
                  <a:pt x="289559" y="143255"/>
                </a:lnTo>
                <a:lnTo>
                  <a:pt x="282183" y="97974"/>
                </a:lnTo>
                <a:lnTo>
                  <a:pt x="261640" y="58649"/>
                </a:lnTo>
                <a:lnTo>
                  <a:pt x="230306" y="27639"/>
                </a:lnTo>
                <a:lnTo>
                  <a:pt x="190560" y="7303"/>
                </a:lnTo>
                <a:lnTo>
                  <a:pt x="144780" y="0"/>
                </a:lnTo>
                <a:close/>
              </a:path>
            </a:pathLst>
          </a:custGeom>
          <a:solidFill>
            <a:srgbClr val="00CCFF"/>
          </a:solidFill>
        </p:spPr>
        <p:txBody>
          <a:bodyPr wrap="square" lIns="0" tIns="0" rIns="0" bIns="0" rtlCol="0"/>
          <a:lstStyle/>
          <a:p>
            <a:endParaRPr dirty="0"/>
          </a:p>
        </p:txBody>
      </p:sp>
      <p:sp>
        <p:nvSpPr>
          <p:cNvPr id="53" name="bg object 53"/>
          <p:cNvSpPr/>
          <p:nvPr/>
        </p:nvSpPr>
        <p:spPr>
          <a:xfrm>
            <a:off x="3188207" y="6082283"/>
            <a:ext cx="289560" cy="287020"/>
          </a:xfrm>
          <a:custGeom>
            <a:avLst/>
            <a:gdLst/>
            <a:ahLst/>
            <a:cxnLst/>
            <a:rect l="l" t="t" r="r" b="b"/>
            <a:pathLst>
              <a:path w="289560" h="287020">
                <a:moveTo>
                  <a:pt x="0" y="143255"/>
                </a:moveTo>
                <a:lnTo>
                  <a:pt x="7376" y="97974"/>
                </a:lnTo>
                <a:lnTo>
                  <a:pt x="27919" y="58649"/>
                </a:lnTo>
                <a:lnTo>
                  <a:pt x="59253" y="27639"/>
                </a:lnTo>
                <a:lnTo>
                  <a:pt x="98999" y="7303"/>
                </a:lnTo>
                <a:lnTo>
                  <a:pt x="144780" y="0"/>
                </a:lnTo>
                <a:lnTo>
                  <a:pt x="190560" y="7303"/>
                </a:lnTo>
                <a:lnTo>
                  <a:pt x="230306" y="27639"/>
                </a:lnTo>
                <a:lnTo>
                  <a:pt x="261640" y="58649"/>
                </a:lnTo>
                <a:lnTo>
                  <a:pt x="282183" y="97974"/>
                </a:lnTo>
                <a:lnTo>
                  <a:pt x="289559" y="143255"/>
                </a:lnTo>
                <a:lnTo>
                  <a:pt x="282183" y="188537"/>
                </a:lnTo>
                <a:lnTo>
                  <a:pt x="261640" y="227862"/>
                </a:lnTo>
                <a:lnTo>
                  <a:pt x="230306" y="258872"/>
                </a:lnTo>
                <a:lnTo>
                  <a:pt x="190560" y="279208"/>
                </a:lnTo>
                <a:lnTo>
                  <a:pt x="144780" y="286511"/>
                </a:lnTo>
                <a:lnTo>
                  <a:pt x="98999" y="279208"/>
                </a:lnTo>
                <a:lnTo>
                  <a:pt x="59253" y="258872"/>
                </a:lnTo>
                <a:lnTo>
                  <a:pt x="27919" y="227862"/>
                </a:lnTo>
                <a:lnTo>
                  <a:pt x="7376" y="188537"/>
                </a:lnTo>
                <a:lnTo>
                  <a:pt x="0" y="143255"/>
                </a:lnTo>
                <a:close/>
              </a:path>
            </a:pathLst>
          </a:custGeom>
          <a:ln w="12700">
            <a:solidFill>
              <a:srgbClr val="00CCFF"/>
            </a:solidFill>
          </a:ln>
        </p:spPr>
        <p:txBody>
          <a:bodyPr wrap="square" lIns="0" tIns="0" rIns="0" bIns="0" rtlCol="0"/>
          <a:lstStyle/>
          <a:p>
            <a:endParaRPr dirty="0"/>
          </a:p>
        </p:txBody>
      </p:sp>
      <p:sp>
        <p:nvSpPr>
          <p:cNvPr id="2" name="Holder 2"/>
          <p:cNvSpPr>
            <a:spLocks noGrp="1" noEditPoints="1"/>
          </p:cNvSpPr>
          <p:nvPr>
            <p:ph type="title"/>
          </p:nvPr>
        </p:nvSpPr>
        <p:spPr>
          <a:xfrm>
            <a:off x="190500" y="185673"/>
            <a:ext cx="11811000" cy="2294712"/>
          </a:xfrm>
          <a:prstGeom prst="rect">
            <a:avLst/>
          </a:prstGeom>
        </p:spPr>
        <p:txBody>
          <a:bodyPr wrap="square" lIns="0" tIns="0" rIns="0" bIns="0">
            <a:spAutoFit/>
          </a:bodyPr>
          <a:lstStyle>
            <a:lvl1pPr>
              <a:defRPr sz="3200" b="1" i="0">
                <a:solidFill>
                  <a:schemeClr val="bg1"/>
                </a:solidFill>
                <a:latin typeface="Arial" panose="020B0604020202020204" pitchFamily="34" charset="0"/>
                <a:cs typeface="Arial" panose="020B0604020202020204" pitchFamily="34" charset="0"/>
              </a:defRPr>
            </a:lvl1pPr>
          </a:lstStyle>
          <a:p>
            <a:endParaRPr/>
          </a:p>
        </p:txBody>
      </p:sp>
      <p:sp>
        <p:nvSpPr>
          <p:cNvPr id="3" name="Holder 3"/>
          <p:cNvSpPr>
            <a:spLocks noGrp="1" noEditPoints="1"/>
          </p:cNvSpPr>
          <p:nvPr>
            <p:ph type="body" idx="1"/>
          </p:nvPr>
        </p:nvSpPr>
        <p:spPr>
          <a:xfrm>
            <a:off x="400913" y="1391793"/>
            <a:ext cx="6763384" cy="3516629"/>
          </a:xfrm>
          <a:prstGeom prst="rect">
            <a:avLst/>
          </a:prstGeom>
        </p:spPr>
        <p:txBody>
          <a:bodyPr wrap="square" lIns="0" tIns="0" rIns="0" bIns="0">
            <a:spAutoFit/>
          </a:bodyPr>
          <a:lstStyle>
            <a:lvl1pPr>
              <a:defRPr sz="3200" b="0" i="0">
                <a:solidFill>
                  <a:schemeClr val="tx1"/>
                </a:solidFill>
                <a:latin typeface="Trebuchet MS" panose="020B0603020202020204"/>
                <a:cs typeface="Trebuchet MS" panose="020B0603020202020204"/>
              </a:defRPr>
            </a:lvl1pPr>
          </a:lstStyle>
          <a:p>
            <a:pPr lvl="0"/>
            <a:endParaRPr/>
          </a:p>
        </p:txBody>
      </p:sp>
      <p:sp>
        <p:nvSpPr>
          <p:cNvPr id="4" name="Holder 4"/>
          <p:cNvSpPr>
            <a:spLocks noGrp="1" noEditPoints="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noEditPoints="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10/14/2025</a:t>
            </a:fld>
            <a:endParaRPr lang="en-US" dirty="0"/>
          </a:p>
        </p:txBody>
      </p:sp>
      <p:sp>
        <p:nvSpPr>
          <p:cNvPr id="6" name="Holder 6"/>
          <p:cNvSpPr>
            <a:spLocks noGrp="1" noEditPoints="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16/j.inpa.2024.03.002" TargetMode="External"/><Relationship Id="rId2" Type="http://schemas.openxmlformats.org/officeDocument/2006/relationships/hyperlink" Target="https://www.sciencedirect.com/author/24778896100/hamid-seridi"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link.springer.com/article/10.1007/s10661-024-12454-z#auth-Absalom_E_-Ezugwu-Aff2" TargetMode="External"/><Relationship Id="rId2" Type="http://schemas.openxmlformats.org/officeDocument/2006/relationships/hyperlink" Target="https://link.springer.com/article/10.1007/s10661-024-12454-z#auth-Habiba_N_-Ngugi-Aff1" TargetMode="External"/><Relationship Id="rId1" Type="http://schemas.openxmlformats.org/officeDocument/2006/relationships/slideLayout" Target="../slideLayouts/slideLayout2.xml"/><Relationship Id="rId5" Type="http://schemas.openxmlformats.org/officeDocument/2006/relationships/hyperlink" Target="https://link.springer.com/article/10.1007/s10661-024-12454-z#auth-Laith-Abualigah-Aff4-Aff5-Aff6-Aff7-Aff8-Aff9-Aff10-Aff11" TargetMode="External"/><Relationship Id="rId4" Type="http://schemas.openxmlformats.org/officeDocument/2006/relationships/hyperlink" Target="https://link.springer.com/article/10.1007/s10661-024-12454-z#auth-Andronicus_A_-Akinyelu-Aff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1016/j.prime.2024.10053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a:srcRect/>
          <a:stretch>
            <a:fillRect/>
          </a:stretch>
        </p:blipFill>
        <p:spPr>
          <a:xfrm>
            <a:off x="9235557" y="6059775"/>
            <a:ext cx="1967483" cy="655319"/>
          </a:xfrm>
          <a:prstGeom prst="rect">
            <a:avLst/>
          </a:prstGeom>
        </p:spPr>
      </p:pic>
      <p:sp>
        <p:nvSpPr>
          <p:cNvPr id="3" name="object 3"/>
          <p:cNvSpPr>
            <a:spLocks noGrp="1" noEditPoints="1"/>
          </p:cNvSpPr>
          <p:nvPr>
            <p:ph type="title"/>
          </p:nvPr>
        </p:nvSpPr>
        <p:spPr>
          <a:xfrm>
            <a:off x="917033" y="141917"/>
            <a:ext cx="10584273" cy="997709"/>
          </a:xfrm>
          <a:prstGeom prst="rect">
            <a:avLst/>
          </a:prstGeom>
        </p:spPr>
        <p:txBody>
          <a:bodyPr vert="horz" wrap="square" lIns="0" tIns="12700" rIns="0" bIns="0" rtlCol="0" anchor="t">
            <a:spAutoFit/>
          </a:bodyPr>
          <a:lstStyle/>
          <a:p>
            <a:pPr algn="ctr"/>
            <a:r>
              <a:rPr lang="en-US" dirty="0">
                <a:solidFill>
                  <a:schemeClr val="tx1"/>
                </a:solidFill>
                <a:latin typeface="Times New Roman" panose="02020603050405020304" pitchFamily="18" charset="0"/>
                <a:cs typeface="Times New Roman" panose="02020603050405020304" pitchFamily="18" charset="0"/>
              </a:rPr>
              <a:t>Plant Disease Detection using Leaf Images and Deep Learning</a:t>
            </a:r>
            <a:endParaRPr lang="en-IN" dirty="0">
              <a:solidFill>
                <a:schemeClr val="tx1"/>
              </a:solidFill>
              <a:highlight>
                <a:srgbClr val="FFFF00"/>
              </a:highlight>
              <a:latin typeface="Times New Roman" panose="02020603050405020304" pitchFamily="18" charset="0"/>
              <a:cs typeface="Times New Roman" panose="02020603050405020304" pitchFamily="18" charset="0"/>
            </a:endParaRPr>
          </a:p>
        </p:txBody>
      </p:sp>
      <p:sp>
        <p:nvSpPr>
          <p:cNvPr id="4" name="object 4"/>
          <p:cNvSpPr txBox="1"/>
          <p:nvPr/>
        </p:nvSpPr>
        <p:spPr>
          <a:xfrm>
            <a:off x="933327" y="1225117"/>
            <a:ext cx="9293266" cy="1011174"/>
          </a:xfrm>
          <a:prstGeom prst="rect">
            <a:avLst/>
          </a:prstGeom>
        </p:spPr>
        <p:txBody>
          <a:bodyPr vert="horz" wrap="square" lIns="0" tIns="13335" rIns="0" bIns="0" rtlCol="0" anchor="t">
            <a:spAutoFit/>
          </a:bodyPr>
          <a:lstStyle/>
          <a:p>
            <a:pPr algn="ctr">
              <a:spcBef>
                <a:spcPts val="105"/>
              </a:spcBef>
            </a:pPr>
            <a:endParaRPr lang="en-US" sz="3200" b="1" spc="-10" dirty="0">
              <a:solidFill>
                <a:srgbClr val="FFC000"/>
              </a:solidFill>
              <a:latin typeface="Times New Roman" panose="02020603050405020304"/>
              <a:cs typeface="Times New Roman" panose="02020603050405020304"/>
            </a:endParaRPr>
          </a:p>
          <a:p>
            <a:pPr algn="ctr">
              <a:spcBef>
                <a:spcPts val="105"/>
              </a:spcBef>
            </a:pPr>
            <a:r>
              <a:rPr lang="en-US" sz="3200" b="1" spc="-10" dirty="0">
                <a:solidFill>
                  <a:srgbClr val="FFC000"/>
                </a:solidFill>
                <a:latin typeface="Times New Roman" panose="02020603050405020304"/>
                <a:cs typeface="Times New Roman" panose="02020603050405020304"/>
              </a:rPr>
              <a:t>22AIE304-Deep Learning</a:t>
            </a:r>
          </a:p>
        </p:txBody>
      </p:sp>
      <p:sp>
        <p:nvSpPr>
          <p:cNvPr id="6" name="object 5"/>
          <p:cNvSpPr txBox="1"/>
          <p:nvPr/>
        </p:nvSpPr>
        <p:spPr>
          <a:xfrm>
            <a:off x="2777387" y="2921356"/>
            <a:ext cx="6096001" cy="1875513"/>
          </a:xfrm>
          <a:prstGeom prst="rect">
            <a:avLst/>
          </a:prstGeom>
          <a:solidFill>
            <a:srgbClr val="AD1237"/>
          </a:solidFill>
        </p:spPr>
        <p:txBody>
          <a:bodyPr vert="horz" wrap="square" lIns="0" tIns="28575" rIns="0" bIns="0" rtlCol="0" anchor="t">
            <a:spAutoFit/>
          </a:bodyPr>
          <a:lstStyle/>
          <a:p>
            <a:pPr algn="ctr"/>
            <a:r>
              <a:rPr lang="en-US" sz="2400" b="1" spc="-90" dirty="0">
                <a:solidFill>
                  <a:schemeClr val="bg1"/>
                </a:solidFill>
                <a:latin typeface="Times New Roman" panose="02020603050405020304" pitchFamily="18" charset="0"/>
                <a:ea typeface="Microsoft YaHei"/>
                <a:cs typeface="Times New Roman" panose="02020603050405020304" pitchFamily="18" charset="0"/>
              </a:rPr>
              <a:t> TEAM 9</a:t>
            </a:r>
            <a:endParaRPr lang="en-US" sz="2400" b="1" spc="-9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p>
            <a:pPr algn="ctr"/>
            <a:r>
              <a:rPr lang="en-US" sz="2400" spc="-90" dirty="0">
                <a:solidFill>
                  <a:schemeClr val="bg1"/>
                </a:solidFill>
                <a:latin typeface="Times New Roman" panose="02020603050405020304" pitchFamily="18" charset="0"/>
                <a:cs typeface="Times New Roman" panose="02020603050405020304" pitchFamily="18" charset="0"/>
              </a:rPr>
              <a:t>    </a:t>
            </a:r>
            <a:r>
              <a:rPr lang="en-US" sz="2400" spc="-90" dirty="0">
                <a:solidFill>
                  <a:schemeClr val="bg1"/>
                </a:solidFill>
                <a:latin typeface="Times New Roman" panose="02020603050405020304" pitchFamily="18" charset="0"/>
                <a:ea typeface="Microsoft JhengHei UI"/>
                <a:cs typeface="Times New Roman" panose="02020603050405020304" pitchFamily="18" charset="0"/>
              </a:rPr>
              <a:t>CH.SC.U4AIE23033 </a:t>
            </a:r>
            <a:r>
              <a:rPr lang="en-US" sz="2400" b="1" spc="-90" dirty="0">
                <a:solidFill>
                  <a:schemeClr val="bg1"/>
                </a:solidFill>
                <a:latin typeface="Times New Roman" panose="02020603050405020304" pitchFamily="18" charset="0"/>
                <a:ea typeface="Microsoft JhengHei UI"/>
                <a:cs typeface="Times New Roman" panose="02020603050405020304" pitchFamily="18" charset="0"/>
              </a:rPr>
              <a:t>–  M. Likhith Reddy </a:t>
            </a:r>
          </a:p>
          <a:p>
            <a:pPr algn="ctr"/>
            <a:r>
              <a:rPr lang="en-US" sz="2400" spc="-90" dirty="0">
                <a:solidFill>
                  <a:schemeClr val="bg1"/>
                </a:solidFill>
                <a:latin typeface="Times New Roman" panose="02020603050405020304" pitchFamily="18" charset="0"/>
                <a:ea typeface="Microsoft JhengHei UI"/>
                <a:cs typeface="Times New Roman" panose="02020603050405020304" pitchFamily="18" charset="0"/>
              </a:rPr>
              <a:t>     CH.SC.U4AIE23035 </a:t>
            </a:r>
            <a:r>
              <a:rPr lang="en-US" sz="2400" b="1" spc="-90" dirty="0">
                <a:solidFill>
                  <a:schemeClr val="bg1"/>
                </a:solidFill>
                <a:latin typeface="Times New Roman" panose="02020603050405020304" pitchFamily="18" charset="0"/>
                <a:ea typeface="Microsoft JhengHei UI"/>
                <a:cs typeface="Times New Roman" panose="02020603050405020304" pitchFamily="18" charset="0"/>
              </a:rPr>
              <a:t>– N. Harshith Varma</a:t>
            </a:r>
          </a:p>
          <a:p>
            <a:pPr algn="l"/>
            <a:r>
              <a:rPr lang="en-US" sz="2400" spc="-90" dirty="0">
                <a:solidFill>
                  <a:schemeClr val="bg1"/>
                </a:solidFill>
                <a:latin typeface="Times New Roman" panose="02020603050405020304" pitchFamily="18" charset="0"/>
                <a:ea typeface="Microsoft JhengHei UI"/>
                <a:cs typeface="Times New Roman" panose="02020603050405020304" pitchFamily="18" charset="0"/>
              </a:rPr>
              <a:t>           CH.SC.U4AIE23038 </a:t>
            </a:r>
            <a:r>
              <a:rPr lang="en-US" sz="2400" b="1" spc="-90" dirty="0">
                <a:solidFill>
                  <a:schemeClr val="bg1"/>
                </a:solidFill>
                <a:latin typeface="Times New Roman" panose="02020603050405020304" pitchFamily="18" charset="0"/>
                <a:ea typeface="Microsoft JhengHei UI"/>
                <a:cs typeface="Times New Roman" panose="02020603050405020304" pitchFamily="18" charset="0"/>
              </a:rPr>
              <a:t>–  N. Charan</a:t>
            </a:r>
          </a:p>
          <a:p>
            <a:pPr algn="l"/>
            <a:endParaRPr lang="en-US" sz="2400" b="1" spc="-90" dirty="0">
              <a:solidFill>
                <a:schemeClr val="bg1"/>
              </a:solidFill>
              <a:latin typeface="Times New Roman" panose="02020603050405020304" pitchFamily="18" charset="0"/>
              <a:ea typeface="Microsoft JhengHei UI" panose="020B0604030504040204" pitchFamily="34" charset="-12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30D9D4-745B-E54B-F87B-F583E5D115BF}"/>
              </a:ext>
            </a:extLst>
          </p:cNvPr>
          <p:cNvSpPr>
            <a:spLocks noGrp="1"/>
          </p:cNvSpPr>
          <p:nvPr>
            <p:ph type="body" idx="1"/>
          </p:nvPr>
        </p:nvSpPr>
        <p:spPr>
          <a:xfrm>
            <a:off x="245807" y="1307690"/>
            <a:ext cx="10593414" cy="2831544"/>
          </a:xfrm>
        </p:spPr>
        <p:txBody>
          <a:bodyPr wrap="square" lIns="0" tIns="0" rIns="0" bIns="0" anchor="t">
            <a:spAutoFit/>
          </a:bodyPr>
          <a:lstStyle/>
          <a:p>
            <a:r>
              <a:rPr lang="en-US" sz="2000" dirty="0">
                <a:latin typeface="Times New Roman" panose="02020603050405020304" pitchFamily="18" charset="0"/>
                <a:cs typeface="Times New Roman" panose="02020603050405020304" pitchFamily="18" charset="0"/>
              </a:rPr>
              <a:t>Plant diseases significantly reduce crop yield and quality, threatening food security and farmer income. Traditional detection methods require expert knowledge and manual observation, which are often unavailable to rural or small-scale farmers.</a:t>
            </a:r>
          </a:p>
          <a:p>
            <a:endParaRPr lang="en-US" sz="24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This project aims to develop an intelligent, automated system capable of detecting plant diseases from leaf images using Convolutional Neural Networks (CNNs). By leveraging deep learning and transfer learning with MobileNetV2 on the PlantVillage dataset, the system can accurately identify various plant diseases. This enables early diagnosis, minimizes unnecessary pesticide usage, and supports sustainable agricultural practices through data-driven decision-making.</a:t>
            </a:r>
            <a:endParaRPr lang="en-US" sz="2000" dirty="0">
              <a:latin typeface="Times New Roman" panose="02020603050405020304" pitchFamily="18" charset="0"/>
              <a:cs typeface="Times New Roman" panose="02020603050405020304" pitchFamily="18" charset="0"/>
            </a:endParaRPr>
          </a:p>
        </p:txBody>
      </p:sp>
      <p:sp>
        <p:nvSpPr>
          <p:cNvPr id="5" name="object 2">
            <a:extLst>
              <a:ext uri="{FF2B5EF4-FFF2-40B4-BE49-F238E27FC236}">
                <a16:creationId xmlns:a16="http://schemas.microsoft.com/office/drawing/2014/main" id="{05367F75-1286-C7E5-0614-78E12EEBF4EA}"/>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1968220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85673"/>
            <a:ext cx="11811000" cy="1316556"/>
          </a:xfrm>
        </p:spPr>
        <p:txBody>
          <a:bodyPr/>
          <a:lstStyle/>
          <a:p>
            <a:r>
              <a:rPr lang="en-US" dirty="0"/>
              <a:t>Agenda</a:t>
            </a:r>
          </a:p>
        </p:txBody>
      </p:sp>
      <p:sp>
        <p:nvSpPr>
          <p:cNvPr id="3" name="Content Placeholder 2"/>
          <p:cNvSpPr>
            <a:spLocks noGrp="1"/>
          </p:cNvSpPr>
          <p:nvPr>
            <p:ph idx="1"/>
          </p:nvPr>
        </p:nvSpPr>
        <p:spPr>
          <a:xfrm>
            <a:off x="789031" y="1171074"/>
            <a:ext cx="9595462" cy="5018612"/>
          </a:xfrm>
        </p:spPr>
        <p:txBody>
          <a:bodyPr vert="horz" lIns="91440" tIns="45720" rIns="91440" bIns="45720" rtlCol="0" anchor="t">
            <a:noAutofit/>
          </a:bodyPr>
          <a:lstStyle/>
          <a:p>
            <a:r>
              <a:rPr lang="en-GB" sz="2000" dirty="0">
                <a:latin typeface="Times New Roman" panose="02020603050405020304" pitchFamily="18" charset="0"/>
                <a:cs typeface="Times New Roman" panose="02020603050405020304" pitchFamily="18" charset="0"/>
              </a:rPr>
              <a:t>Agriculture is vital for global food security, yet plant diseases remain a major threat to crop yield and farmer income. Traditional disease detection methods rely on manual inspection and expert knowledge, which are often slow, expensive, and inaccessible to many farmers. This highlights the need for an automated, intelligent system that can identify plant diseases accurately and efficiently.</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In this project, a deep learning–based plant disease detection model is developed using TensorFlow and Keras with MobileNetV2 architecture. Trained on the PlantVillage dataset, the model </a:t>
            </a:r>
            <a:r>
              <a:rPr lang="en-GB" sz="2000" dirty="0" err="1">
                <a:latin typeface="Times New Roman" panose="02020603050405020304" pitchFamily="18" charset="0"/>
                <a:cs typeface="Times New Roman" panose="02020603050405020304" pitchFamily="18" charset="0"/>
              </a:rPr>
              <a:t>analyzes</a:t>
            </a:r>
            <a:r>
              <a:rPr lang="en-GB" sz="2000" dirty="0">
                <a:latin typeface="Times New Roman" panose="02020603050405020304" pitchFamily="18" charset="0"/>
                <a:cs typeface="Times New Roman" panose="02020603050405020304" pitchFamily="18" charset="0"/>
              </a:rPr>
              <a:t> leaf images to classify different plant diseases with high accuracy. By enabling early detection, this system helps farmers take timely action, reduce crop loss, and promote sustainable agricultural practices.</a:t>
            </a:r>
          </a:p>
          <a:p>
            <a:endParaRPr lang="en-GB" sz="1800" dirty="0">
              <a:latin typeface="Times New Roman" panose="02020603050405020304" pitchFamily="18" charset="0"/>
              <a:cs typeface="Times New Roman" panose="02020603050405020304" pitchFamily="18" charset="0"/>
            </a:endParaRPr>
          </a:p>
          <a:p>
            <a:endParaRPr lang="en-GB" sz="1800" dirty="0">
              <a:latin typeface="Times New Roman" panose="02020603050405020304" pitchFamily="18" charset="0"/>
              <a:cs typeface="Times New Roman" panose="02020603050405020304" pitchFamily="18" charset="0"/>
            </a:endParaRPr>
          </a:p>
        </p:txBody>
      </p:sp>
      <p:sp>
        <p:nvSpPr>
          <p:cNvPr id="4" name="object 2"/>
          <p:cNvSpPr txBox="1">
            <a:spLocks noEditPoints="1"/>
          </p:cNvSpPr>
          <p:nvPr/>
        </p:nvSpPr>
        <p:spPr>
          <a:xfrm>
            <a:off x="0" y="0"/>
            <a:ext cx="12191999"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5C028-76B6-62B1-B16F-054EC9530FE3}"/>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80B70947-D099-35E1-CA74-6348FABF61FF}"/>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OBJECTIVES:</a:t>
            </a:r>
          </a:p>
        </p:txBody>
      </p:sp>
      <p:sp>
        <p:nvSpPr>
          <p:cNvPr id="6" name="Rectangle 3">
            <a:extLst>
              <a:ext uri="{FF2B5EF4-FFF2-40B4-BE49-F238E27FC236}">
                <a16:creationId xmlns:a16="http://schemas.microsoft.com/office/drawing/2014/main" id="{B8275171-2BBD-5F7B-3E8F-0B07CBDE9674}"/>
              </a:ext>
            </a:extLst>
          </p:cNvPr>
          <p:cNvSpPr>
            <a:spLocks noGrp="1" noChangeArrowheads="1"/>
          </p:cNvSpPr>
          <p:nvPr>
            <p:ph type="body" idx="1"/>
          </p:nvPr>
        </p:nvSpPr>
        <p:spPr bwMode="auto">
          <a:xfrm>
            <a:off x="324465" y="1966160"/>
            <a:ext cx="11022714" cy="303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sz="1800" b="1" dirty="0">
                <a:latin typeface="Times New Roman" panose="02020603050405020304" pitchFamily="18" charset="0"/>
                <a:cs typeface="Times New Roman" panose="02020603050405020304" pitchFamily="18" charset="0"/>
              </a:rPr>
              <a:t>Disease Detection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IN"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Develop a deep learning model to automatically identify plant diseases from leaf images.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sz="1800" b="1" dirty="0">
                <a:latin typeface="Times New Roman" panose="02020603050405020304" pitchFamily="18" charset="0"/>
                <a:cs typeface="Times New Roman" panose="02020603050405020304" pitchFamily="18" charset="0"/>
              </a:rPr>
              <a:t>High Accuracy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Achieve classification accuracy above 90% using  transfer learning.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sz="1800" b="1" dirty="0">
                <a:latin typeface="Times New Roman" panose="02020603050405020304" pitchFamily="18" charset="0"/>
                <a:cs typeface="Times New Roman" panose="02020603050405020304" pitchFamily="18" charset="0"/>
              </a:rPr>
              <a:t>Early Diagnosis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Enable timely detection of crop diseases to reduce losses and improve yield.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1800"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sz="1800" b="1" dirty="0">
                <a:latin typeface="Times New Roman" panose="02020603050405020304" pitchFamily="18" charset="0"/>
                <a:cs typeface="Times New Roman" panose="02020603050405020304" pitchFamily="18" charset="0"/>
              </a:rPr>
              <a:t>Farmer-Friendly Solution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Design a system that is simple, accessible, and usable by non-experts.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Sustainability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Reduce excessive pesticide use and promote eco-friendly farming practices.</a:t>
            </a:r>
          </a:p>
          <a:p>
            <a:pPr marL="342900" indent="-342900" algn="l">
              <a:buFont typeface="+mj-lt"/>
              <a:buAutoNum type="arabicPeriod"/>
            </a:pPr>
            <a:endParaRPr 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8095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C3EA5-FDB9-E436-4EE0-59BE8C2D7838}"/>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D92630CB-4139-B844-1C15-684D5560F822}"/>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DATASET:</a:t>
            </a:r>
          </a:p>
        </p:txBody>
      </p:sp>
      <p:sp>
        <p:nvSpPr>
          <p:cNvPr id="3" name="TextBox 2">
            <a:extLst>
              <a:ext uri="{FF2B5EF4-FFF2-40B4-BE49-F238E27FC236}">
                <a16:creationId xmlns:a16="http://schemas.microsoft.com/office/drawing/2014/main" id="{90EFF02A-7D37-5385-3C3C-F181A04427F3}"/>
              </a:ext>
            </a:extLst>
          </p:cNvPr>
          <p:cNvSpPr txBox="1"/>
          <p:nvPr/>
        </p:nvSpPr>
        <p:spPr>
          <a:xfrm>
            <a:off x="226503" y="1350626"/>
            <a:ext cx="11006356" cy="2941383"/>
          </a:xfrm>
          <a:prstGeom prst="rect">
            <a:avLst/>
          </a:prstGeom>
          <a:noFill/>
        </p:spPr>
        <p:txBody>
          <a:bodyPr wrap="square">
            <a:spAutoFit/>
          </a:bodyPr>
          <a:lstStyle/>
          <a:p>
            <a:pPr marL="228600" algn="just">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The dataset utilized for this study comprises a curated collection of leaf images representing four distinct plant species: corn (maize), pepper bell, potato, and tomato. It encompasses a total of 11 unique classes, which include both healthy and diseased specimens. Specifically, the corn category is represented by three classes: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Cercospora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Leaf Spot (Gray Leaf Spot), Common Rust, and a healthy state. The pepper bell category includes images showing Bacterial Spot and a healthy condition. For potatoes, the dataset includes the two major fungal diseases, Early Blight and Late Blight, alongside healthy leaves. The tomato category, which is the most heavily represented in terms of sample size, includes images afflicted with Tomato Yellow Leaf Curl Virus and Tomato Mosaic Virus, in addition to healthy tomato leaves. This distribution provides a focused yet diverse foundation for developing a multi-class, multi-species plant disease detection model.</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99048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15893-FCE4-8B34-09EF-010B2E5A8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1F514-4CAC-1F2F-7631-845E70DD0988}"/>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DEDBAAA6-632A-CFB2-2891-3941DAD1E56F}"/>
              </a:ext>
            </a:extLst>
          </p:cNvPr>
          <p:cNvSpPr txBox="1">
            <a:spLocks noEditPoints="1"/>
          </p:cNvSpPr>
          <p:nvPr/>
        </p:nvSpPr>
        <p:spPr>
          <a:xfrm>
            <a:off x="0" y="-1"/>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Methodology </a:t>
            </a:r>
          </a:p>
        </p:txBody>
      </p:sp>
      <p:sp>
        <p:nvSpPr>
          <p:cNvPr id="6" name="TextBox 5">
            <a:extLst>
              <a:ext uri="{FF2B5EF4-FFF2-40B4-BE49-F238E27FC236}">
                <a16:creationId xmlns:a16="http://schemas.microsoft.com/office/drawing/2014/main" id="{EFDFB085-16CC-8E6F-583B-31CEEB53E247}"/>
              </a:ext>
            </a:extLst>
          </p:cNvPr>
          <p:cNvSpPr txBox="1"/>
          <p:nvPr/>
        </p:nvSpPr>
        <p:spPr>
          <a:xfrm>
            <a:off x="381698" y="1263904"/>
            <a:ext cx="10859550" cy="3754489"/>
          </a:xfrm>
          <a:prstGeom prst="rect">
            <a:avLst/>
          </a:prstGeom>
          <a:noFill/>
        </p:spPr>
        <p:txBody>
          <a:bodyPr wrap="square">
            <a:spAutoFit/>
          </a:bodyPr>
          <a:lstStyle/>
          <a:p>
            <a:pPr>
              <a:lnSpc>
                <a:spcPct val="115000"/>
              </a:lnSpc>
              <a:spcAft>
                <a:spcPts val="800"/>
              </a:spcAft>
              <a:buNone/>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1. Dataset Collection and Preparation</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Source:</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PlantVillage</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dataset containing images of healthy and diseased plant leaves.</a:t>
            </a: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Data Organization:</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Images stored in folders corresponding to each class.</a:t>
            </a: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Image Preprocessing:</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Resize to uniform dimensions (128×128 for CNN/ML, 224×224 for MobileNetV2).</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Convert images to RGB.</a:t>
            </a: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Normalize pixel values (scale to [0,1]).</a:t>
            </a: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Label Encoding:</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Convert categorical class labels into numerical format.</a:t>
            </a: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Optional </a:t>
            </a:r>
            <a:r>
              <a:rPr lang="en-IN" b="1" kern="100" dirty="0" err="1">
                <a:effectLst/>
                <a:latin typeface="Times New Roman" panose="02020603050405020304" pitchFamily="18" charset="0"/>
                <a:ea typeface="Aptos" panose="020B0004020202020204" pitchFamily="34" charset="0"/>
                <a:cs typeface="Times New Roman" panose="02020603050405020304" pitchFamily="18" charset="0"/>
              </a:rPr>
              <a:t>Subsetting</a:t>
            </a: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Limit to ~400 images per class to balance dataset.</a:t>
            </a:r>
          </a:p>
        </p:txBody>
      </p:sp>
    </p:spTree>
    <p:extLst>
      <p:ext uri="{BB962C8B-B14F-4D97-AF65-F5344CB8AC3E}">
        <p14:creationId xmlns:p14="http://schemas.microsoft.com/office/powerpoint/2010/main" val="1268539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26889-A8D4-68FB-E081-4CE2AF0F0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64E71-F54C-46CE-B789-0ACF3425079C}"/>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8A12CEBF-94A7-3130-3C38-A4D4071DCEB4}"/>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Methodology </a:t>
            </a:r>
          </a:p>
        </p:txBody>
      </p:sp>
      <p:sp>
        <p:nvSpPr>
          <p:cNvPr id="5" name="TextBox 4">
            <a:extLst>
              <a:ext uri="{FF2B5EF4-FFF2-40B4-BE49-F238E27FC236}">
                <a16:creationId xmlns:a16="http://schemas.microsoft.com/office/drawing/2014/main" id="{BA17D9C4-4A7A-EBDB-449F-A8A7BBC900FB}"/>
              </a:ext>
            </a:extLst>
          </p:cNvPr>
          <p:cNvSpPr txBox="1"/>
          <p:nvPr/>
        </p:nvSpPr>
        <p:spPr>
          <a:xfrm>
            <a:off x="398476" y="802509"/>
            <a:ext cx="11052496" cy="2536309"/>
          </a:xfrm>
          <a:prstGeom prst="rect">
            <a:avLst/>
          </a:prstGeom>
          <a:noFill/>
        </p:spPr>
        <p:txBody>
          <a:bodyPr wrap="square">
            <a:spAutoFit/>
          </a:bodyPr>
          <a:lstStyle/>
          <a:p>
            <a:pPr>
              <a:lnSpc>
                <a:spcPct val="115000"/>
              </a:lnSpc>
              <a:spcAft>
                <a:spcPts val="800"/>
              </a:spcAft>
              <a:buNone/>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2. Data Augmentation (for CNN and MobileNetV2)</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Apply transformations to increase dataset diversity and reduce overfitting:</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Random rotations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Width and height shifts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Zoom</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Horizontal flips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A160938-7EDB-51BE-1A43-1DC1517086C0}"/>
              </a:ext>
            </a:extLst>
          </p:cNvPr>
          <p:cNvSpPr txBox="1"/>
          <p:nvPr/>
        </p:nvSpPr>
        <p:spPr>
          <a:xfrm>
            <a:off x="398476" y="3217179"/>
            <a:ext cx="10725325" cy="2919838"/>
          </a:xfrm>
          <a:prstGeom prst="rect">
            <a:avLst/>
          </a:prstGeom>
          <a:noFill/>
        </p:spPr>
        <p:txBody>
          <a:bodyPr wrap="square">
            <a:spAutoFit/>
          </a:bodyPr>
          <a:lstStyle/>
          <a:p>
            <a:pPr>
              <a:lnSpc>
                <a:spcPct val="115000"/>
              </a:lnSpc>
              <a:spcAft>
                <a:spcPts val="800"/>
              </a:spcAft>
              <a:buNone/>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3. Model Development</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a. Traditional CNN</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Architecture:</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4 convolutional blocks: Conv2D →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BatchNormalization</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 MaxPooling2D</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Flatten layer</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Dense(512) + Dropout</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Output Dense layer with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softmax</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activation</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49526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4367F-3D8C-D302-421A-C2FA3020A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90C8E-D05E-76A5-C179-8D62B7E2A846}"/>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29A71C41-A2C5-6144-3FAA-3284240E1333}"/>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Methodology </a:t>
            </a:r>
          </a:p>
        </p:txBody>
      </p:sp>
      <p:sp>
        <p:nvSpPr>
          <p:cNvPr id="8" name="TextBox 7">
            <a:extLst>
              <a:ext uri="{FF2B5EF4-FFF2-40B4-BE49-F238E27FC236}">
                <a16:creationId xmlns:a16="http://schemas.microsoft.com/office/drawing/2014/main" id="{0495EC19-E359-83EB-ED1F-65354E09853F}"/>
              </a:ext>
            </a:extLst>
          </p:cNvPr>
          <p:cNvSpPr txBox="1"/>
          <p:nvPr/>
        </p:nvSpPr>
        <p:spPr>
          <a:xfrm>
            <a:off x="190500" y="679509"/>
            <a:ext cx="10832634" cy="5025543"/>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Training:</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Optimizer: Adam</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Loss: Sparse Categorical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Crossentropy</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Epochs: 15, Batch size: 32</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b. MobileNetV2 (Transfer Learning)</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Transfer Learning:</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Use pretrained MobileNetV2 as feature extractor.</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Frozen layers:</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Base MobileNetV2 layers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Trainable layers:</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Custom top layers (Pooling → Dense → Dropout → Output)</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Advantages:</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Lightweight, faster training, high accuracy</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Training:</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Optimizer: Adam</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Epochs: 10, Batch size: 32</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87238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9008A-23BF-9E6C-BAD9-0364C1595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51762-AABC-2D90-7C97-14E490A876BA}"/>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A20BE0BE-1299-74DB-1655-A3AA2F2D3079}"/>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Methodology </a:t>
            </a:r>
          </a:p>
        </p:txBody>
      </p:sp>
      <p:sp>
        <p:nvSpPr>
          <p:cNvPr id="5" name="TextBox 4">
            <a:extLst>
              <a:ext uri="{FF2B5EF4-FFF2-40B4-BE49-F238E27FC236}">
                <a16:creationId xmlns:a16="http://schemas.microsoft.com/office/drawing/2014/main" id="{C9888094-724F-6E44-C774-0B2AB97F4362}"/>
              </a:ext>
            </a:extLst>
          </p:cNvPr>
          <p:cNvSpPr txBox="1"/>
          <p:nvPr/>
        </p:nvSpPr>
        <p:spPr>
          <a:xfrm>
            <a:off x="398475" y="802509"/>
            <a:ext cx="10733715" cy="5344092"/>
          </a:xfrm>
          <a:prstGeom prst="rect">
            <a:avLst/>
          </a:prstGeom>
          <a:noFill/>
        </p:spPr>
        <p:txBody>
          <a:bodyPr wrap="square">
            <a:spAutoFit/>
          </a:bodyPr>
          <a:lstStyle/>
          <a:p>
            <a:pPr>
              <a:lnSpc>
                <a:spcPct val="115000"/>
              </a:lnSpc>
              <a:spcAft>
                <a:spcPts val="800"/>
              </a:spcAft>
              <a:buNone/>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c. Classical ML (Random Forest)</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Feature Extraction:</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Flattened images, standardized with StandardScaler, dimensionality reduced via PCA (150 components).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Model:</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Random Forest classifier with 150 trees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Evaluation Metrics:</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Accuracy, classification report, confusion matrix</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gn="l">
              <a:lnSpc>
                <a:spcPct val="115000"/>
              </a:lnSpc>
              <a:spcAft>
                <a:spcPts val="800"/>
              </a:spcAft>
              <a:buNone/>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4. Model Evaluation</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Cross-Validation:</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5-Fold Stratified K-Fold applied to all models.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Metrics: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Accuracy per fold</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Classification report (precision, recall, F1-score)</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Visualization:</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Training &amp; validation accuracy/loss plots (for CNN and MobileNetV2)</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Confusion matrix heatmaps (for Random Forest)</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58381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3AF48-34F9-D05F-7250-A47902E2A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DE59D-A4FE-F784-FD2B-2D54080D087C}"/>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AABD90CD-ACE5-D597-3C6A-845C956E1441}"/>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Methodology </a:t>
            </a:r>
          </a:p>
        </p:txBody>
      </p:sp>
      <p:sp>
        <p:nvSpPr>
          <p:cNvPr id="5" name="TextBox 4">
            <a:extLst>
              <a:ext uri="{FF2B5EF4-FFF2-40B4-BE49-F238E27FC236}">
                <a16:creationId xmlns:a16="http://schemas.microsoft.com/office/drawing/2014/main" id="{12F2449C-685B-9DD1-9B98-6777E6679FF4}"/>
              </a:ext>
            </a:extLst>
          </p:cNvPr>
          <p:cNvSpPr txBox="1"/>
          <p:nvPr/>
        </p:nvSpPr>
        <p:spPr>
          <a:xfrm>
            <a:off x="306197" y="941233"/>
            <a:ext cx="10792437" cy="1632755"/>
          </a:xfrm>
          <a:prstGeom prst="rect">
            <a:avLst/>
          </a:prstGeom>
          <a:noFill/>
        </p:spPr>
        <p:txBody>
          <a:bodyPr wrap="square">
            <a:spAutoFit/>
          </a:bodyPr>
          <a:lstStyle/>
          <a:p>
            <a:pPr>
              <a:lnSpc>
                <a:spcPct val="115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5. Result Recording and Output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Save best-trained models per fold.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Store accuracy/loss plots and fold-wise performance summaries in output directory.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800" dirty="0">
                <a:effectLst/>
                <a:latin typeface="Times New Roman" panose="02020603050405020304" pitchFamily="18" charset="0"/>
                <a:ea typeface="Aptos" panose="020B0004020202020204" pitchFamily="34" charset="0"/>
              </a:rPr>
              <a:t>Compute average accuracy and standard deviation across folds.</a:t>
            </a:r>
            <a:endParaRPr lang="en-IN" dirty="0"/>
          </a:p>
        </p:txBody>
      </p:sp>
    </p:spTree>
    <p:extLst>
      <p:ext uri="{BB962C8B-B14F-4D97-AF65-F5344CB8AC3E}">
        <p14:creationId xmlns:p14="http://schemas.microsoft.com/office/powerpoint/2010/main" val="1470878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4FAF3-30E5-73AD-CDCE-F1F89CA78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D61ED-7CD8-FF10-398B-12241B49F98F}"/>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985D5F80-DBC0-57FF-84BA-A4EB354BF032}"/>
              </a:ext>
            </a:extLst>
          </p:cNvPr>
          <p:cNvSpPr txBox="1">
            <a:spLocks noEditPoints="1"/>
          </p:cNvSpPr>
          <p:nvPr/>
        </p:nvSpPr>
        <p:spPr>
          <a:xfrm>
            <a:off x="0" y="0"/>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ARCHITECTURE DIAGRAM:</a:t>
            </a:r>
          </a:p>
        </p:txBody>
      </p:sp>
      <p:pic>
        <p:nvPicPr>
          <p:cNvPr id="3" name="Picture 2">
            <a:extLst>
              <a:ext uri="{FF2B5EF4-FFF2-40B4-BE49-F238E27FC236}">
                <a16:creationId xmlns:a16="http://schemas.microsoft.com/office/drawing/2014/main" id="{2CEB23A9-C36E-98D5-19E9-8531F554C8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499" y="843951"/>
            <a:ext cx="11072026" cy="5111730"/>
          </a:xfrm>
          <a:prstGeom prst="rect">
            <a:avLst/>
          </a:prstGeom>
          <a:noFill/>
          <a:ln>
            <a:noFill/>
          </a:ln>
        </p:spPr>
      </p:pic>
    </p:spTree>
    <p:extLst>
      <p:ext uri="{BB962C8B-B14F-4D97-AF65-F5344CB8AC3E}">
        <p14:creationId xmlns:p14="http://schemas.microsoft.com/office/powerpoint/2010/main" val="731671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A8A3D-8367-6C7C-D68B-490E336F0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58C5A-2FC4-C289-40BB-FDA725D12A55}"/>
              </a:ext>
            </a:extLst>
          </p:cNvPr>
          <p:cNvSpPr>
            <a:spLocks noGrp="1"/>
          </p:cNvSpPr>
          <p:nvPr>
            <p:ph type="title"/>
          </p:nvPr>
        </p:nvSpPr>
        <p:spPr>
          <a:xfrm>
            <a:off x="190500" y="185673"/>
            <a:ext cx="11811000" cy="1316556"/>
          </a:xfrm>
        </p:spPr>
        <p:txBody>
          <a:bodyPr/>
          <a:lstStyle/>
          <a:p>
            <a:r>
              <a:rPr lang="en-US" dirty="0"/>
              <a:t>Agenda</a:t>
            </a:r>
          </a:p>
        </p:txBody>
      </p:sp>
      <p:sp>
        <p:nvSpPr>
          <p:cNvPr id="3" name="Content Placeholder 2">
            <a:extLst>
              <a:ext uri="{FF2B5EF4-FFF2-40B4-BE49-F238E27FC236}">
                <a16:creationId xmlns:a16="http://schemas.microsoft.com/office/drawing/2014/main" id="{0967C07F-DD41-1184-3767-29C25C3F9C95}"/>
              </a:ext>
            </a:extLst>
          </p:cNvPr>
          <p:cNvSpPr>
            <a:spLocks noGrp="1"/>
          </p:cNvSpPr>
          <p:nvPr>
            <p:ph idx="1"/>
          </p:nvPr>
        </p:nvSpPr>
        <p:spPr>
          <a:xfrm>
            <a:off x="789031" y="1171074"/>
            <a:ext cx="9595462" cy="5018612"/>
          </a:xfrm>
        </p:spPr>
        <p:txBody>
          <a:bodyPr vert="horz" lIns="91440" tIns="45720" rIns="91440" bIns="45720" rtlCol="0" anchor="t">
            <a:noAutofit/>
          </a:bodyPr>
          <a:lstStyle/>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Crop yield and quality are heavily affected by plant diseases, leading to significant economic losses for farmers.</a:t>
            </a:r>
          </a:p>
          <a:p>
            <a:pPr marL="285750" indent="-28575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Manual disease detection is slow, requires expertise, and is often unavailable in rural areas.</a:t>
            </a:r>
          </a:p>
          <a:p>
            <a:pPr marL="285750" indent="-28575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Early and accurate detection can reduce pesticide usage, save costs, and improve crop health.</a:t>
            </a:r>
          </a:p>
          <a:p>
            <a:pPr marL="285750" indent="-28575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Deep learning models, like CNNs and </a:t>
            </a:r>
            <a:r>
              <a:rPr lang="en-GB" sz="2000" dirty="0" err="1">
                <a:latin typeface="Times New Roman" panose="02020603050405020304" pitchFamily="18" charset="0"/>
                <a:cs typeface="Times New Roman" panose="02020603050405020304" pitchFamily="18" charset="0"/>
              </a:rPr>
              <a:t>tensorflow</a:t>
            </a:r>
            <a:r>
              <a:rPr lang="en-GB" sz="2000" dirty="0">
                <a:latin typeface="Times New Roman" panose="02020603050405020304" pitchFamily="18" charset="0"/>
                <a:cs typeface="Times New Roman" panose="02020603050405020304" pitchFamily="18" charset="0"/>
              </a:rPr>
              <a:t>, can automatically detect diseases from leaf images with high accuracy.</a:t>
            </a:r>
          </a:p>
          <a:p>
            <a:pPr marL="285750" indent="-28575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Enables real-time, on-field diagnosis, supporting farmers in timely intervention.</a:t>
            </a:r>
          </a:p>
          <a:p>
            <a:pPr marL="285750" indent="-28575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Promotes sustainable agriculture and food security by minimizing crop losses.</a:t>
            </a:r>
            <a:endParaRPr lang="en-GB" sz="12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4AA4895C-BD2C-F459-AFE0-C02958F3F22B}"/>
              </a:ext>
            </a:extLst>
          </p:cNvPr>
          <p:cNvSpPr txBox="1">
            <a:spLocks noEditPoints="1"/>
          </p:cNvSpPr>
          <p:nvPr/>
        </p:nvSpPr>
        <p:spPr>
          <a:xfrm>
            <a:off x="0" y="-1"/>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Motivation</a:t>
            </a:r>
          </a:p>
        </p:txBody>
      </p:sp>
    </p:spTree>
    <p:extLst>
      <p:ext uri="{BB962C8B-B14F-4D97-AF65-F5344CB8AC3E}">
        <p14:creationId xmlns:p14="http://schemas.microsoft.com/office/powerpoint/2010/main" val="2887004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85673"/>
            <a:ext cx="11811000" cy="1191998"/>
          </a:xfrm>
        </p:spPr>
        <p:txBody>
          <a:bodyPr/>
          <a:lstStyle/>
          <a:p>
            <a:r>
              <a:rPr lang="en-US" dirty="0"/>
              <a:t>Agenda</a:t>
            </a:r>
          </a:p>
        </p:txBody>
      </p:sp>
      <p:sp>
        <p:nvSpPr>
          <p:cNvPr id="3" name="Content Placeholder 2"/>
          <p:cNvSpPr>
            <a:spLocks noGrp="1"/>
          </p:cNvSpPr>
          <p:nvPr>
            <p:ph idx="1"/>
          </p:nvPr>
        </p:nvSpPr>
        <p:spPr>
          <a:xfrm>
            <a:off x="913607" y="1216550"/>
            <a:ext cx="9966914" cy="5009321"/>
          </a:xfrm>
        </p:spPr>
        <p:txBody>
          <a:bodyPr vert="horz" lIns="91440" tIns="45720" rIns="91440" bIns="45720" rtlCol="0" anchor="t">
            <a:normAutofit/>
          </a:bodyPr>
          <a:lstStyle/>
          <a:p>
            <a:pPr algn="l" rtl="0" fontAlgn="base"/>
            <a:endParaRPr lang="en-US" sz="2000" dirty="0">
              <a:latin typeface="+mn-lt"/>
            </a:endParaRPr>
          </a:p>
          <a:p>
            <a:pPr marL="457200" indent="-457200" algn="l" rtl="0" fontAlgn="base">
              <a:buFont typeface="Arial" panose="020B0604020202020204" pitchFamily="34" charset="0"/>
              <a:buChar char="•"/>
            </a:pPr>
            <a:endParaRPr lang="en-US" sz="2400" dirty="0"/>
          </a:p>
          <a:p>
            <a:pPr marL="457200" indent="-457200" algn="l" rtl="0" fontAlgn="base">
              <a:buFont typeface="Arial" panose="020B0604020202020204" pitchFamily="34" charset="0"/>
              <a:buChar char="•"/>
            </a:pPr>
            <a:endParaRPr lang="en-US" sz="2400" dirty="0"/>
          </a:p>
          <a:p>
            <a:pPr marL="457200" indent="-457200" algn="l" rtl="0" fontAlgn="base">
              <a:buFont typeface="Arial" panose="020B0604020202020204" pitchFamily="34" charset="0"/>
              <a:buChar char="•"/>
            </a:pPr>
            <a:endParaRPr lang="en-US" sz="2400" dirty="0"/>
          </a:p>
          <a:p>
            <a:pPr marL="457200" indent="-457200" algn="l" rtl="0" fontAlgn="base">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object 2"/>
          <p:cNvSpPr txBox="1">
            <a:spLocks noEditPoints="1"/>
          </p:cNvSpPr>
          <p:nvPr/>
        </p:nvSpPr>
        <p:spPr>
          <a:xfrm>
            <a:off x="0" y="-14596"/>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Literature Review</a:t>
            </a:r>
          </a:p>
        </p:txBody>
      </p:sp>
      <p:graphicFrame>
        <p:nvGraphicFramePr>
          <p:cNvPr id="7" name="Table 16">
            <a:extLst>
              <a:ext uri="{FF2B5EF4-FFF2-40B4-BE49-F238E27FC236}">
                <a16:creationId xmlns:a16="http://schemas.microsoft.com/office/drawing/2014/main" id="{7F337774-9396-7050-125A-ACCD24990370}"/>
              </a:ext>
            </a:extLst>
          </p:cNvPr>
          <p:cNvGraphicFramePr/>
          <p:nvPr>
            <p:extLst>
              <p:ext uri="{D42A27DB-BD31-4B8C-83A1-F6EECF244321}">
                <p14:modId xmlns:p14="http://schemas.microsoft.com/office/powerpoint/2010/main" val="2741766242"/>
              </p:ext>
            </p:extLst>
          </p:nvPr>
        </p:nvGraphicFramePr>
        <p:xfrm>
          <a:off x="0" y="602242"/>
          <a:ext cx="12192001" cy="7376160"/>
        </p:xfrm>
        <a:graphic>
          <a:graphicData uri="http://schemas.openxmlformats.org/drawingml/2006/table">
            <a:tbl>
              <a:tblPr/>
              <a:tblGrid>
                <a:gridCol w="822960">
                  <a:extLst>
                    <a:ext uri="{9D8B030D-6E8A-4147-A177-3AD203B41FA5}">
                      <a16:colId xmlns:a16="http://schemas.microsoft.com/office/drawing/2014/main" val="20000"/>
                    </a:ext>
                  </a:extLst>
                </a:gridCol>
                <a:gridCol w="1369634">
                  <a:extLst>
                    <a:ext uri="{9D8B030D-6E8A-4147-A177-3AD203B41FA5}">
                      <a16:colId xmlns:a16="http://schemas.microsoft.com/office/drawing/2014/main" val="20001"/>
                    </a:ext>
                  </a:extLst>
                </a:gridCol>
                <a:gridCol w="1484671">
                  <a:extLst>
                    <a:ext uri="{9D8B030D-6E8A-4147-A177-3AD203B41FA5}">
                      <a16:colId xmlns:a16="http://schemas.microsoft.com/office/drawing/2014/main" val="20002"/>
                    </a:ext>
                  </a:extLst>
                </a:gridCol>
                <a:gridCol w="2025445">
                  <a:extLst>
                    <a:ext uri="{9D8B030D-6E8A-4147-A177-3AD203B41FA5}">
                      <a16:colId xmlns:a16="http://schemas.microsoft.com/office/drawing/2014/main" val="20003"/>
                    </a:ext>
                  </a:extLst>
                </a:gridCol>
                <a:gridCol w="2231922">
                  <a:extLst>
                    <a:ext uri="{9D8B030D-6E8A-4147-A177-3AD203B41FA5}">
                      <a16:colId xmlns:a16="http://schemas.microsoft.com/office/drawing/2014/main" val="20004"/>
                    </a:ext>
                  </a:extLst>
                </a:gridCol>
                <a:gridCol w="1961722">
                  <a:extLst>
                    <a:ext uri="{9D8B030D-6E8A-4147-A177-3AD203B41FA5}">
                      <a16:colId xmlns:a16="http://schemas.microsoft.com/office/drawing/2014/main" val="20005"/>
                    </a:ext>
                  </a:extLst>
                </a:gridCol>
                <a:gridCol w="2295647">
                  <a:extLst>
                    <a:ext uri="{9D8B030D-6E8A-4147-A177-3AD203B41FA5}">
                      <a16:colId xmlns:a16="http://schemas.microsoft.com/office/drawing/2014/main" val="20006"/>
                    </a:ext>
                  </a:extLst>
                </a:gridCol>
              </a:tblGrid>
              <a:tr h="1275223">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S.NO</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tabLst>
                          <a:tab pos="0" algn="l"/>
                        </a:tabLst>
                      </a:pPr>
                      <a:endParaRPr lang="en-IN" sz="20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Title</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tabLst>
                          <a:tab pos="0" algn="l"/>
                        </a:tabLst>
                      </a:pPr>
                      <a:endParaRPr lang="en-IN" sz="20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D7D31"/>
                    </a:solidFill>
                  </a:tcPr>
                </a:tc>
                <a:tc>
                  <a:txBody>
                    <a:bodyPr/>
                    <a:lstStyle/>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Author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Journal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Year</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endParaRPr lang="en-IN" sz="20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Methodology/Algorithms/Architecture used</a:t>
                      </a:r>
                      <a:endParaRPr lang="en-IN" sz="20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Merits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tabLst>
                          <a:tab pos="0" algn="l"/>
                        </a:tabLst>
                      </a:pPr>
                      <a:endParaRPr lang="en-IN" sz="20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Demerits</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tabLst>
                          <a:tab pos="0" algn="l"/>
                        </a:tabLst>
                      </a:pPr>
                      <a:endParaRPr lang="en-IN" sz="20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Research gap</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tabLst>
                          <a:tab pos="0" algn="l"/>
                        </a:tabLst>
                      </a:pPr>
                      <a:endParaRPr lang="en-IN" sz="20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D7D31"/>
                    </a:solidFill>
                  </a:tcPr>
                </a:tc>
                <a:extLst>
                  <a:ext uri="{0D108BD9-81ED-4DB2-BD59-A6C34878D82A}">
                    <a16:rowId xmlns:a16="http://schemas.microsoft.com/office/drawing/2014/main" val="10000"/>
                  </a:ext>
                </a:extLst>
              </a:tr>
              <a:tr h="5622931">
                <a:tc>
                  <a:txBody>
                    <a:bodyPr/>
                    <a:lstStyle/>
                    <a:p>
                      <a:pPr algn="l">
                        <a:lnSpc>
                          <a:spcPct val="100000"/>
                        </a:lnSpc>
                        <a:buNone/>
                      </a:pPr>
                      <a:r>
                        <a:rPr lang="en-IN" sz="1400" b="0" strike="noStrike" spc="-1" dirty="0">
                          <a:latin typeface="Times New Roman" panose="02020603050405020304" pitchFamily="18" charset="0"/>
                          <a:cs typeface="Times New Roman" panose="02020603050405020304" pitchFamily="18" charset="0"/>
                        </a:rPr>
                        <a:t>1.</a:t>
                      </a: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US" b="1" i="0" dirty="0">
                          <a:solidFill>
                            <a:schemeClr val="tx1"/>
                          </a:solidFill>
                          <a:effectLst/>
                          <a:latin typeface="+mn-lt"/>
                          <a:ea typeface="+mn-ea"/>
                          <a:cs typeface="+mn-cs"/>
                        </a:rPr>
                        <a:t>Innovative deep learning approach for cross-crop plant disease detection: A generalized method for identifying unhealthy leaves.</a:t>
                      </a: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pPr marL="0" indent="0" algn="l">
                        <a:lnSpc>
                          <a:spcPct val="100000"/>
                        </a:lnSpc>
                        <a:buFont typeface="Arial" panose="020B0604020202020204" pitchFamily="34" charset="0"/>
                        <a:buNone/>
                      </a:pPr>
                      <a:r>
                        <a:rPr lang="en-IN" sz="1400" dirty="0">
                          <a:effectLst/>
                        </a:rPr>
                        <a:t>Imane Bouacida </a:t>
                      </a:r>
                      <a:r>
                        <a:rPr lang="en-IN" sz="1400" baseline="30000" dirty="0">
                          <a:effectLst/>
                        </a:rPr>
                        <a:t>a</a:t>
                      </a:r>
                      <a:r>
                        <a:rPr lang="en-IN" sz="1400" b="0" i="0" dirty="0">
                          <a:solidFill>
                            <a:schemeClr val="tx1"/>
                          </a:solidFill>
                          <a:effectLst/>
                          <a:latin typeface="+mn-lt"/>
                          <a:ea typeface="+mn-ea"/>
                          <a:cs typeface="+mn-cs"/>
                        </a:rPr>
                        <a:t>, </a:t>
                      </a:r>
                      <a:r>
                        <a:rPr lang="en-IN" sz="1400" dirty="0">
                          <a:effectLst/>
                        </a:rPr>
                        <a:t>Brahim Farou </a:t>
                      </a:r>
                      <a:r>
                        <a:rPr lang="en-IN" sz="1400" baseline="30000" dirty="0">
                          <a:effectLst/>
                        </a:rPr>
                        <a:t>a</a:t>
                      </a:r>
                      <a:r>
                        <a:rPr lang="en-IN" sz="1400" b="0" i="0" dirty="0">
                          <a:solidFill>
                            <a:schemeClr val="tx1"/>
                          </a:solidFill>
                          <a:effectLst/>
                          <a:latin typeface="+mn-lt"/>
                          <a:ea typeface="+mn-ea"/>
                          <a:cs typeface="+mn-cs"/>
                        </a:rPr>
                        <a:t>, </a:t>
                      </a:r>
                      <a:r>
                        <a:rPr lang="en-IN" sz="1400" dirty="0">
                          <a:effectLst/>
                        </a:rPr>
                        <a:t>Lynda Djakhdjakha </a:t>
                      </a:r>
                      <a:r>
                        <a:rPr lang="en-IN" sz="1400" baseline="30000" dirty="0">
                          <a:effectLst/>
                        </a:rPr>
                        <a:t>a</a:t>
                      </a:r>
                      <a:r>
                        <a:rPr lang="en-IN" sz="1400" b="0" i="0" dirty="0">
                          <a:solidFill>
                            <a:schemeClr val="tx1"/>
                          </a:solidFill>
                          <a:effectLst/>
                          <a:latin typeface="+mn-lt"/>
                          <a:ea typeface="+mn-ea"/>
                          <a:cs typeface="+mn-cs"/>
                        </a:rPr>
                        <a:t>, </a:t>
                      </a:r>
                      <a:r>
                        <a:rPr lang="en-IN" sz="1400" b="0" i="0" u="none" strike="noStrike" dirty="0">
                          <a:solidFill>
                            <a:schemeClr val="tx1"/>
                          </a:solidFill>
                          <a:effectLst/>
                          <a:latin typeface="+mn-lt"/>
                          <a:ea typeface="+mn-ea"/>
                          <a:cs typeface="+mn-cs"/>
                          <a:hlinkClick r:id="rId2"/>
                        </a:rPr>
                        <a:t>Hamid Seridi </a:t>
                      </a:r>
                      <a:r>
                        <a:rPr lang="en-IN" sz="1400" b="0" i="0" u="none" strike="noStrike" baseline="30000" dirty="0">
                          <a:solidFill>
                            <a:schemeClr val="tx1"/>
                          </a:solidFill>
                          <a:effectLst/>
                          <a:latin typeface="+mn-lt"/>
                          <a:ea typeface="+mn-ea"/>
                          <a:cs typeface="+mn-cs"/>
                          <a:hlinkClick r:id="rId2"/>
                        </a:rPr>
                        <a:t>a</a:t>
                      </a:r>
                      <a:r>
                        <a:rPr lang="en-IN" sz="1400" b="0" i="0" dirty="0">
                          <a:solidFill>
                            <a:schemeClr val="tx1"/>
                          </a:solidFill>
                          <a:effectLst/>
                          <a:latin typeface="+mn-lt"/>
                          <a:ea typeface="+mn-ea"/>
                          <a:cs typeface="+mn-cs"/>
                        </a:rPr>
                        <a:t>, </a:t>
                      </a:r>
                      <a:r>
                        <a:rPr lang="en-IN" sz="1400" dirty="0">
                          <a:effectLst/>
                        </a:rPr>
                        <a:t>Muhammet Kurulay </a:t>
                      </a:r>
                      <a:r>
                        <a:rPr lang="en-IN" sz="1400" baseline="30000" dirty="0">
                          <a:effectLst/>
                        </a:rPr>
                        <a:t>b</a:t>
                      </a:r>
                    </a:p>
                    <a:p>
                      <a:pPr marL="0" indent="0" algn="l">
                        <a:lnSpc>
                          <a:spcPct val="100000"/>
                        </a:lnSpc>
                        <a:buFont typeface="Arial" panose="020B0604020202020204" pitchFamily="34" charset="0"/>
                        <a:buNone/>
                      </a:pPr>
                      <a:endParaRPr lang="en-IN" sz="1400" b="0" i="0" dirty="0">
                        <a:solidFill>
                          <a:schemeClr val="tx1"/>
                        </a:solidFill>
                        <a:effectLst/>
                        <a:latin typeface="+mn-lt"/>
                        <a:ea typeface="+mn-ea"/>
                        <a:cs typeface="+mn-cs"/>
                      </a:endParaRPr>
                    </a:p>
                    <a:p>
                      <a:pPr marL="0" indent="0" algn="l">
                        <a:lnSpc>
                          <a:spcPct val="100000"/>
                        </a:lnSpc>
                        <a:buFont typeface="Arial" panose="020B0604020202020204" pitchFamily="34" charset="0"/>
                        <a:buNone/>
                      </a:pPr>
                      <a:r>
                        <a:rPr lang="en-IN" sz="1400" b="1" i="0" dirty="0">
                          <a:solidFill>
                            <a:schemeClr val="tx1"/>
                          </a:solidFill>
                          <a:effectLst/>
                          <a:latin typeface="+mn-lt"/>
                          <a:ea typeface="+mn-ea"/>
                          <a:cs typeface="+mn-cs"/>
                        </a:rPr>
                        <a:t>DOI:</a:t>
                      </a:r>
                      <a:r>
                        <a:rPr lang="en-IN" sz="1400" b="0" i="0" dirty="0">
                          <a:solidFill>
                            <a:schemeClr val="tx1"/>
                          </a:solidFill>
                          <a:effectLst/>
                          <a:latin typeface="+mn-lt"/>
                          <a:ea typeface="+mn-ea"/>
                          <a:cs typeface="+mn-cs"/>
                        </a:rPr>
                        <a:t> </a:t>
                      </a:r>
                      <a:r>
                        <a:rPr lang="en-IN" sz="1400" b="0" i="0" u="none" strike="noStrike" dirty="0">
                          <a:solidFill>
                            <a:schemeClr val="tx1"/>
                          </a:solidFill>
                          <a:effectLst/>
                          <a:latin typeface="+mn-lt"/>
                          <a:ea typeface="+mn-ea"/>
                          <a:cs typeface="+mn-cs"/>
                          <a:hlinkClick r:id="rId3" tooltip="Persistent link using digital object identifier"/>
                        </a:rPr>
                        <a:t>https://doi.org/10.1016/j.inpa.2024.03.002</a:t>
                      </a:r>
                      <a:endParaRPr lang="en-IN" sz="1400" b="0" strike="noStrike" spc="-1"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US" sz="1400" b="1" dirty="0"/>
                        <a:t>Methodology</a:t>
                      </a:r>
                    </a:p>
                    <a:p>
                      <a:r>
                        <a:rPr lang="en-US" sz="1400" b="1" dirty="0"/>
                        <a:t>Objective:</a:t>
                      </a:r>
                      <a:br>
                        <a:rPr lang="en-US" sz="1400" dirty="0"/>
                      </a:br>
                      <a:r>
                        <a:rPr lang="en-US" sz="1400" dirty="0"/>
                        <a:t>To develop a </a:t>
                      </a:r>
                      <a:r>
                        <a:rPr lang="en-US" sz="1400" b="1" dirty="0"/>
                        <a:t>generalized deep learning system</a:t>
                      </a:r>
                      <a:r>
                        <a:rPr lang="en-US" sz="1400" dirty="0"/>
                        <a:t> that can identify plant diseases across different crops, even those not included in the training dataset.</a:t>
                      </a:r>
                    </a:p>
                    <a:p>
                      <a:r>
                        <a:rPr lang="en-US" sz="1400" b="1" dirty="0"/>
                        <a:t>Data Collection and Preparation:</a:t>
                      </a:r>
                      <a:endParaRPr lang="en-US" sz="1400" dirty="0"/>
                    </a:p>
                    <a:p>
                      <a:pPr lvl="0"/>
                      <a:r>
                        <a:rPr lang="en-US" sz="1400" dirty="0"/>
                        <a:t>Utilized the </a:t>
                      </a:r>
                      <a:r>
                        <a:rPr lang="en-US" sz="1400" b="1" dirty="0"/>
                        <a:t>PlantVillage dataset</a:t>
                      </a:r>
                      <a:r>
                        <a:rPr lang="en-US" sz="1400" dirty="0"/>
                        <a:t>, a comprehensive benchmark dataset for plant disease classification.</a:t>
                      </a:r>
                    </a:p>
                    <a:p>
                      <a:pPr lvl="0"/>
                      <a:r>
                        <a:rPr lang="en-US" sz="1400" dirty="0"/>
                        <a:t>Additional unseen datasets were used to test generalization ability.</a:t>
                      </a:r>
                    </a:p>
                    <a:p>
                      <a:pPr lvl="0"/>
                      <a:r>
                        <a:rPr lang="en-US" sz="1400" dirty="0"/>
                        <a:t>Leaf images were segmented to isolate </a:t>
                      </a:r>
                      <a:r>
                        <a:rPr lang="en-US" sz="1400" b="1" dirty="0"/>
                        <a:t>small diseased regions</a:t>
                      </a:r>
                      <a:r>
                        <a:rPr lang="en-US" sz="1400" dirty="0"/>
                        <a:t> instead of the whole leaf.</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US" sz="1400" b="1" dirty="0"/>
                        <a:t>High Generalization Capability:</a:t>
                      </a:r>
                      <a:r>
                        <a:rPr lang="en-US" sz="1400" dirty="0"/>
                        <a:t> Performs well on unseen crops and disease types.</a:t>
                      </a:r>
                    </a:p>
                    <a:p>
                      <a:r>
                        <a:rPr lang="en-US" sz="1400" b="1" dirty="0"/>
                        <a:t>Focus on Diseased Regions:</a:t>
                      </a:r>
                      <a:r>
                        <a:rPr lang="en-US" sz="1400" dirty="0"/>
                        <a:t> Region-based recognition enhances robustness against variation in leaf shape, color, and background.</a:t>
                      </a:r>
                    </a:p>
                    <a:p>
                      <a:r>
                        <a:rPr lang="en-US" sz="1400" b="1" dirty="0"/>
                        <a:t>Lightweight Architecture:</a:t>
                      </a:r>
                      <a:r>
                        <a:rPr lang="en-US" sz="1400" dirty="0"/>
                        <a:t> Small Inception model offers efficiency without sacrificing accuracy.</a:t>
                      </a:r>
                    </a:p>
                    <a:p>
                      <a:r>
                        <a:rPr lang="en-US" sz="1400" b="1" dirty="0"/>
                        <a:t>Excellent Accuracy:</a:t>
                      </a:r>
                      <a:r>
                        <a:rPr lang="en-US" sz="1400" dirty="0"/>
                        <a:t> Achieved state-of-the-art performance on benchmark and unseen datasets.</a:t>
                      </a: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US" sz="1400" b="1" dirty="0"/>
                        <a:t>Dependence on High-Quality Images:</a:t>
                      </a:r>
                      <a:r>
                        <a:rPr lang="en-US" sz="1400" dirty="0"/>
                        <a:t> Model performance may degrade with poor lighting or noisy field images.</a:t>
                      </a:r>
                    </a:p>
                    <a:p>
                      <a:r>
                        <a:rPr lang="en-US" sz="1400" b="1" dirty="0"/>
                        <a:t>Limited Environmental Diversity:</a:t>
                      </a:r>
                      <a:r>
                        <a:rPr lang="en-US" sz="1400" dirty="0"/>
                        <a:t> May not fully capture variations from real-world field conditions (humidity, weather, camera types).</a:t>
                      </a:r>
                    </a:p>
                    <a:p>
                      <a:r>
                        <a:rPr lang="en-US" sz="1400" b="1" dirty="0"/>
                        <a:t>Region Segmentation Complexity:</a:t>
                      </a:r>
                      <a:r>
                        <a:rPr lang="en-US" sz="1400" dirty="0"/>
                        <a:t> Accurate isolation of diseased regions can be computationally demanding.</a:t>
                      </a: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tc>
                  <a:txBody>
                    <a:bodyPr/>
                    <a:lstStyle/>
                    <a:p>
                      <a:r>
                        <a:rPr lang="en-IN" sz="1400" b="1" dirty="0"/>
                        <a:t>Real-World Field Validation:</a:t>
                      </a:r>
                      <a:r>
                        <a:rPr lang="en-IN" sz="1400" dirty="0"/>
                        <a:t> Needs testing on diverse real-time field datasets with varying illumination, occlusion, and weather conditions.</a:t>
                      </a:r>
                    </a:p>
                    <a:p>
                      <a:r>
                        <a:rPr lang="en-IN" sz="1400" b="1" dirty="0"/>
                        <a:t>Explainable AI Integration:</a:t>
                      </a:r>
                      <a:r>
                        <a:rPr lang="en-IN" sz="1400" dirty="0"/>
                        <a:t> Incorporate visualization tools (e.g., Grad-CAM) to help farmers and agronomists interpret predictions.</a:t>
                      </a:r>
                    </a:p>
                    <a:p>
                      <a:r>
                        <a:rPr lang="en-IN" sz="1400" b="1" dirty="0"/>
                        <a:t>Multimodal Learning:</a:t>
                      </a:r>
                      <a:r>
                        <a:rPr lang="en-IN" sz="1400" dirty="0"/>
                        <a:t> Combine image data with environmental or sensor data (temperature, humidity) for improved prediction accuracy.</a:t>
                      </a:r>
                    </a:p>
                  </a:txBody>
                  <a:tcPr>
                    <a:lnL w="12240">
                      <a:solidFill>
                        <a:srgbClr val="FFFFFF"/>
                      </a:solidFill>
                    </a:lnL>
                    <a:lnR w="12240">
                      <a:solidFill>
                        <a:srgbClr val="FFFFFF"/>
                      </a:solidFill>
                    </a:lnR>
                    <a:lnT w="12240">
                      <a:solidFill>
                        <a:srgbClr val="FFFFFF"/>
                      </a:solidFill>
                    </a:lnT>
                    <a:lnB w="12240">
                      <a:solidFill>
                        <a:srgbClr val="FFFFFF"/>
                      </a:solidFill>
                    </a:lnB>
                    <a:solidFill>
                      <a:srgbClr val="F8D7CD"/>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C39E113-919E-B9F4-1944-8DD09CBE5AFF}"/>
              </a:ext>
            </a:extLst>
          </p:cNvPr>
          <p:cNvGraphicFramePr>
            <a:graphicFrameLocks noGrp="1"/>
          </p:cNvGraphicFramePr>
          <p:nvPr>
            <p:extLst>
              <p:ext uri="{D42A27DB-BD31-4B8C-83A1-F6EECF244321}">
                <p14:modId xmlns:p14="http://schemas.microsoft.com/office/powerpoint/2010/main" val="1439633455"/>
              </p:ext>
            </p:extLst>
          </p:nvPr>
        </p:nvGraphicFramePr>
        <p:xfrm>
          <a:off x="9525" y="0"/>
          <a:ext cx="12163425" cy="7391292"/>
        </p:xfrm>
        <a:graphic>
          <a:graphicData uri="http://schemas.openxmlformats.org/drawingml/2006/table">
            <a:tbl>
              <a:tblPr bandRow="1">
                <a:tableStyleId>{5C22544A-7EE6-4342-B048-85BDC9FD1C3A}</a:tableStyleId>
              </a:tblPr>
              <a:tblGrid>
                <a:gridCol w="720317">
                  <a:extLst>
                    <a:ext uri="{9D8B030D-6E8A-4147-A177-3AD203B41FA5}">
                      <a16:colId xmlns:a16="http://schemas.microsoft.com/office/drawing/2014/main" val="2531387533"/>
                    </a:ext>
                  </a:extLst>
                </a:gridCol>
                <a:gridCol w="1983861">
                  <a:extLst>
                    <a:ext uri="{9D8B030D-6E8A-4147-A177-3AD203B41FA5}">
                      <a16:colId xmlns:a16="http://schemas.microsoft.com/office/drawing/2014/main" val="1355562912"/>
                    </a:ext>
                  </a:extLst>
                </a:gridCol>
                <a:gridCol w="1421417">
                  <a:extLst>
                    <a:ext uri="{9D8B030D-6E8A-4147-A177-3AD203B41FA5}">
                      <a16:colId xmlns:a16="http://schemas.microsoft.com/office/drawing/2014/main" val="1964581412"/>
                    </a:ext>
                  </a:extLst>
                </a:gridCol>
                <a:gridCol w="2042160">
                  <a:extLst>
                    <a:ext uri="{9D8B030D-6E8A-4147-A177-3AD203B41FA5}">
                      <a16:colId xmlns:a16="http://schemas.microsoft.com/office/drawing/2014/main" val="415952775"/>
                    </a:ext>
                  </a:extLst>
                </a:gridCol>
                <a:gridCol w="1918970">
                  <a:extLst>
                    <a:ext uri="{9D8B030D-6E8A-4147-A177-3AD203B41FA5}">
                      <a16:colId xmlns:a16="http://schemas.microsoft.com/office/drawing/2014/main" val="2726944195"/>
                    </a:ext>
                  </a:extLst>
                </a:gridCol>
                <a:gridCol w="1990725">
                  <a:extLst>
                    <a:ext uri="{9D8B030D-6E8A-4147-A177-3AD203B41FA5}">
                      <a16:colId xmlns:a16="http://schemas.microsoft.com/office/drawing/2014/main" val="1021626851"/>
                    </a:ext>
                  </a:extLst>
                </a:gridCol>
                <a:gridCol w="2085975">
                  <a:extLst>
                    <a:ext uri="{9D8B030D-6E8A-4147-A177-3AD203B41FA5}">
                      <a16:colId xmlns:a16="http://schemas.microsoft.com/office/drawing/2014/main" val="3443714608"/>
                    </a:ext>
                  </a:extLst>
                </a:gridCol>
              </a:tblGrid>
              <a:tr h="1325772">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S.NO</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Title</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Author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Journal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Year</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Methodology/Algorithms/Architecture used</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Merits </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Demerits</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Research gap</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3137721010"/>
                  </a:ext>
                </a:extLst>
              </a:tr>
              <a:tr h="5544133">
                <a:tc>
                  <a:txBody>
                    <a:bodyPr/>
                    <a:lstStyle/>
                    <a:p>
                      <a:pPr algn="l" fontAlgn="base"/>
                      <a:r>
                        <a:rPr lang="en-US" sz="1400" b="0" i="0" dirty="0">
                          <a:solidFill>
                            <a:srgbClr val="000000"/>
                          </a:solidFill>
                          <a:effectLst/>
                          <a:latin typeface="Times New Roman" panose="02020603050405020304" pitchFamily="18" charset="0"/>
                          <a:cs typeface="Times New Roman" panose="02020603050405020304" pitchFamily="18" charset="0"/>
                        </a:rPr>
                        <a:t>2.</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b="1" dirty="0"/>
                        <a:t>Image-based crop disease detection using machine learning</a:t>
                      </a:r>
                      <a:endParaRPr lang="en-US" sz="1600" b="1" i="0" dirty="0">
                        <a:solidFill>
                          <a:srgbClr val="000000"/>
                        </a:solidFill>
                        <a:effectLst/>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pPr marL="0" indent="0" algn="l">
                        <a:lnSpc>
                          <a:spcPct val="100000"/>
                        </a:lnSpc>
                        <a:buFont typeface="Arial" panose="020B0604020202020204" pitchFamily="34" charset="0"/>
                        <a:buNone/>
                      </a:pPr>
                      <a:r>
                        <a:rPr lang="en-IN" sz="1400" dirty="0"/>
                        <a:t>Aria Dolatabadian1 | Ting Xiang Neik 2,3 | Monica F. Danilevicz1,4 |Shriprabha R. Upadhyaya1,4 | Jacqueline Batley1,5 | David Edwards1,4,5</a:t>
                      </a:r>
                    </a:p>
                    <a:p>
                      <a:pPr marL="0" indent="0" algn="l">
                        <a:lnSpc>
                          <a:spcPct val="100000"/>
                        </a:lnSpc>
                        <a:buFont typeface="Arial" panose="020B0604020202020204" pitchFamily="34" charset="0"/>
                        <a:buNone/>
                      </a:pPr>
                      <a:endParaRPr lang="en-IN" sz="1400" b="0" i="0" dirty="0">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eaLnBrk="1" fontAlgn="base" latinLnBrk="0" hangingPunct="1">
                        <a:lnSpc>
                          <a:spcPct val="100000"/>
                        </a:lnSpc>
                        <a:spcBef>
                          <a:spcPts val="0"/>
                        </a:spcBef>
                        <a:spcAft>
                          <a:spcPts val="0"/>
                        </a:spcAft>
                        <a:buClrTx/>
                        <a:buSzTx/>
                        <a:buFontTx/>
                        <a:buNone/>
                        <a:tabLst/>
                        <a:defRPr/>
                      </a:pPr>
                      <a:r>
                        <a:rPr lang="en-IN" sz="1400" b="1" i="0" dirty="0">
                          <a:solidFill>
                            <a:srgbClr val="000000"/>
                          </a:solidFill>
                          <a:effectLst/>
                          <a:latin typeface="Times New Roman" panose="02020603050405020304" pitchFamily="18" charset="0"/>
                          <a:cs typeface="Times New Roman" panose="02020603050405020304" pitchFamily="18" charset="0"/>
                        </a:rPr>
                        <a:t>DOI</a:t>
                      </a:r>
                      <a:r>
                        <a:rPr lang="en-IN" sz="1400" b="0" i="0" dirty="0">
                          <a:solidFill>
                            <a:srgbClr val="000000"/>
                          </a:solidFill>
                          <a:effectLst/>
                          <a:latin typeface="Times New Roman" panose="02020603050405020304" pitchFamily="18" charset="0"/>
                          <a:cs typeface="Times New Roman" panose="02020603050405020304" pitchFamily="18" charset="0"/>
                        </a:rPr>
                        <a:t>:</a:t>
                      </a:r>
                      <a:r>
                        <a:rPr lang="en-IN" sz="1400" b="0" i="0" u="none" strike="noStrike" dirty="0">
                          <a:solidFill>
                            <a:schemeClr val="dk1"/>
                          </a:solidFill>
                          <a:effectLst/>
                          <a:latin typeface="+mn-lt"/>
                          <a:ea typeface="+mn-ea"/>
                          <a:cs typeface="+mn-cs"/>
                        </a:rPr>
                        <a:t>https://doi.org/10.1111/ppa.14006</a:t>
                      </a:r>
                      <a:endParaRPr lang="en-IN" sz="1400" b="0" i="0" dirty="0">
                        <a:solidFill>
                          <a:srgbClr val="000000"/>
                        </a:solidFill>
                        <a:effectLst/>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Objective:</a:t>
                      </a:r>
                      <a:br>
                        <a:rPr lang="en-US" sz="1400" dirty="0"/>
                      </a:br>
                      <a:r>
                        <a:rPr lang="en-US" sz="1400" dirty="0"/>
                        <a:t>To provide a </a:t>
                      </a:r>
                      <a:r>
                        <a:rPr lang="en-US" sz="1400" b="1" dirty="0"/>
                        <a:t>comprehensive review and synthesis</a:t>
                      </a:r>
                      <a:r>
                        <a:rPr lang="en-US" sz="1400" dirty="0"/>
                        <a:t> of research on crop disease detection using </a:t>
                      </a:r>
                      <a:r>
                        <a:rPr lang="en-US" sz="1400" b="1" dirty="0"/>
                        <a:t>image-based machine learning techniques</a:t>
                      </a:r>
                      <a:r>
                        <a:rPr lang="en-US" sz="1400" dirty="0"/>
                        <a:t>, highlighting progress, challenges, and opportunities.</a:t>
                      </a:r>
                    </a:p>
                    <a:p>
                      <a:r>
                        <a:rPr lang="en-US" sz="1400" b="1" dirty="0"/>
                        <a:t>Data Collection and Literature Review:</a:t>
                      </a:r>
                      <a:endParaRPr lang="en-US" sz="1400" dirty="0"/>
                    </a:p>
                    <a:p>
                      <a:r>
                        <a:rPr lang="en-US" sz="1400" dirty="0"/>
                        <a:t>The authors </a:t>
                      </a:r>
                      <a:r>
                        <a:rPr lang="en-US" sz="1400" b="1" dirty="0"/>
                        <a:t>collected and analyzed existing research papers</a:t>
                      </a:r>
                      <a:r>
                        <a:rPr lang="en-US" sz="1400" dirty="0"/>
                        <a:t> on ML- and AI-based approaches for crop disease detection.</a:t>
                      </a:r>
                    </a:p>
                    <a:p>
                      <a:r>
                        <a:rPr lang="en-US" sz="1400" dirty="0"/>
                        <a:t>Included studies that applied </a:t>
                      </a:r>
                      <a:r>
                        <a:rPr lang="en-US" sz="1400" b="1" dirty="0"/>
                        <a:t>imaging technologies</a:t>
                      </a:r>
                      <a:r>
                        <a:rPr lang="en-US" sz="1400" dirty="0"/>
                        <a:t> such as RGB, multispectral, and hyperspectral imaging for identifying crop diseases.</a:t>
                      </a:r>
                    </a:p>
                    <a:p>
                      <a:r>
                        <a:rPr lang="en-US" sz="1400" dirty="0"/>
                        <a:t>Focused on both </a:t>
                      </a:r>
                      <a:r>
                        <a:rPr lang="en-US" sz="1400" b="1" dirty="0"/>
                        <a:t>controlled laboratory studies</a:t>
                      </a:r>
                      <a:r>
                        <a:rPr lang="en-US" sz="1400" dirty="0"/>
                        <a:t> and </a:t>
                      </a:r>
                      <a:r>
                        <a:rPr lang="en-US" sz="1400" b="1" dirty="0"/>
                        <a:t>field-based applications</a:t>
                      </a:r>
                      <a:r>
                        <a:rPr lang="en-US" sz="1400" dirty="0"/>
                        <a:t>.</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Comprehensive Synthesis:</a:t>
                      </a:r>
                      <a:r>
                        <a:rPr lang="en-US" sz="1400" dirty="0"/>
                        <a:t> Consolidates a wide range of studies, providing a holistic view of current advancements in crop disease detection.</a:t>
                      </a:r>
                    </a:p>
                    <a:p>
                      <a:r>
                        <a:rPr lang="en-US" sz="1400" b="1" dirty="0"/>
                        <a:t>Bridges Research and Practice:</a:t>
                      </a:r>
                      <a:r>
                        <a:rPr lang="en-US" sz="1400" dirty="0"/>
                        <a:t> Offers guidance for practical deployment in real-world agricultural settings.</a:t>
                      </a:r>
                    </a:p>
                    <a:p>
                      <a:r>
                        <a:rPr lang="en-US" sz="1400" b="1" dirty="0"/>
                        <a:t>Covers Multiple Technologies:</a:t>
                      </a:r>
                      <a:r>
                        <a:rPr lang="en-US" sz="1400" dirty="0"/>
                        <a:t> Examines RGB, hyperspectral, UAV, and satellite-based imaging methods.</a:t>
                      </a:r>
                    </a:p>
                    <a:p>
                      <a:r>
                        <a:rPr lang="en-US" sz="1400" b="1" dirty="0"/>
                        <a:t>Algorithm Comparison:</a:t>
                      </a:r>
                      <a:r>
                        <a:rPr lang="en-US" sz="1400" dirty="0"/>
                        <a:t> Evaluates performance differences among traditional ML and deep learning models.</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Lack of Experimental Validation:</a:t>
                      </a:r>
                      <a:r>
                        <a:rPr lang="en-US" sz="1400" dirty="0"/>
                        <a:t> As a review paper, it doesn’t include original experiments or empirical testing.</a:t>
                      </a:r>
                    </a:p>
                    <a:p>
                      <a:r>
                        <a:rPr lang="en-US" sz="1400" b="1" dirty="0"/>
                        <a:t>Data Diversity Limitation:</a:t>
                      </a:r>
                      <a:r>
                        <a:rPr lang="en-US" sz="1400" dirty="0"/>
                        <a:t> May not fully represent all geographical or crop-specific conditions due to limited dataset coverage in existing studies.</a:t>
                      </a:r>
                    </a:p>
                    <a:p>
                      <a:r>
                        <a:rPr lang="en-US" sz="1400" b="1" dirty="0"/>
                        <a:t>Absence of Standard Benchmarking:</a:t>
                      </a:r>
                      <a:r>
                        <a:rPr lang="en-US" sz="1400" dirty="0"/>
                        <a:t> No unified evaluation metrics across reviewed methods.</a:t>
                      </a:r>
                    </a:p>
                    <a:p>
                      <a:r>
                        <a:rPr lang="en-US" sz="1400" b="1" dirty="0"/>
                        <a:t>Limited Focus on Real-Time Systems:</a:t>
                      </a:r>
                      <a:r>
                        <a:rPr lang="en-US" sz="1400" dirty="0"/>
                        <a:t> Most studies reviewed deal with laboratory or controlled environments rather than in-field deployment.</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IN" sz="1400" b="1" dirty="0"/>
                        <a:t>Standardized Datasets and Benchmarks:</a:t>
                      </a:r>
                      <a:r>
                        <a:rPr lang="en-IN" sz="1400" dirty="0"/>
                        <a:t> There is a need for large, publicly available, annotated datasets representing diverse crops, regions, and lighting conditions.</a:t>
                      </a:r>
                    </a:p>
                    <a:p>
                      <a:r>
                        <a:rPr lang="en-IN" sz="1400" b="1" dirty="0"/>
                        <a:t>Field-Based Validation:</a:t>
                      </a:r>
                      <a:r>
                        <a:rPr lang="en-IN" sz="1400" dirty="0"/>
                        <a:t> More emphasis on </a:t>
                      </a:r>
                      <a:r>
                        <a:rPr lang="en-IN" sz="1400" b="1" dirty="0"/>
                        <a:t>real-world testing</a:t>
                      </a:r>
                      <a:r>
                        <a:rPr lang="en-IN" sz="1400" dirty="0"/>
                        <a:t> under varying environmental conditions.</a:t>
                      </a:r>
                    </a:p>
                    <a:p>
                      <a:r>
                        <a:rPr lang="en-IN" sz="1400" b="1" dirty="0"/>
                        <a:t>Explainable AI for Agriculture:</a:t>
                      </a:r>
                      <a:r>
                        <a:rPr lang="en-IN" sz="1400" dirty="0"/>
                        <a:t> Future systems should provide interpretable outputs understandable by farmers.</a:t>
                      </a:r>
                    </a:p>
                    <a:p>
                      <a:r>
                        <a:rPr lang="en-IN" sz="1400" b="1" dirty="0"/>
                        <a:t>Multimodal Data Fusion:</a:t>
                      </a:r>
                      <a:r>
                        <a:rPr lang="en-IN" sz="1400" dirty="0"/>
                        <a:t> Integration of </a:t>
                      </a:r>
                      <a:r>
                        <a:rPr lang="en-IN" sz="1400" b="1" dirty="0"/>
                        <a:t>sensor data (temperature, humidity)</a:t>
                      </a:r>
                      <a:r>
                        <a:rPr lang="en-IN" sz="1400" dirty="0"/>
                        <a:t> with image data can improve robustness.</a:t>
                      </a:r>
                    </a:p>
                    <a:p>
                      <a:r>
                        <a:rPr lang="en-US" sz="1400" dirty="0"/>
                        <a:t>.</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4123139381"/>
                  </a:ext>
                </a:extLst>
              </a:tr>
            </a:tbl>
          </a:graphicData>
        </a:graphic>
      </p:graphicFrame>
    </p:spTree>
    <p:extLst>
      <p:ext uri="{BB962C8B-B14F-4D97-AF65-F5344CB8AC3E}">
        <p14:creationId xmlns:p14="http://schemas.microsoft.com/office/powerpoint/2010/main" val="2122545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483B0-72B4-99FB-67E2-FFE9F4446A9F}"/>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F31EA931-A9BE-BBC3-F382-26499A765C8A}"/>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D35463A7-75B1-1FA4-A8F7-B7D700286FA2}"/>
              </a:ext>
            </a:extLst>
          </p:cNvPr>
          <p:cNvGraphicFramePr>
            <a:graphicFrameLocks noGrp="1"/>
          </p:cNvGraphicFramePr>
          <p:nvPr>
            <p:extLst>
              <p:ext uri="{D42A27DB-BD31-4B8C-83A1-F6EECF244321}">
                <p14:modId xmlns:p14="http://schemas.microsoft.com/office/powerpoint/2010/main" val="1232217299"/>
              </p:ext>
            </p:extLst>
          </p:nvPr>
        </p:nvGraphicFramePr>
        <p:xfrm>
          <a:off x="14287" y="-11905"/>
          <a:ext cx="12163425" cy="7604652"/>
        </p:xfrm>
        <a:graphic>
          <a:graphicData uri="http://schemas.openxmlformats.org/drawingml/2006/table">
            <a:tbl>
              <a:tblPr bandRow="1">
                <a:tableStyleId>{5C22544A-7EE6-4342-B048-85BDC9FD1C3A}</a:tableStyleId>
              </a:tblPr>
              <a:tblGrid>
                <a:gridCol w="605145">
                  <a:extLst>
                    <a:ext uri="{9D8B030D-6E8A-4147-A177-3AD203B41FA5}">
                      <a16:colId xmlns:a16="http://schemas.microsoft.com/office/drawing/2014/main" val="3191128577"/>
                    </a:ext>
                  </a:extLst>
                </a:gridCol>
                <a:gridCol w="1691149">
                  <a:extLst>
                    <a:ext uri="{9D8B030D-6E8A-4147-A177-3AD203B41FA5}">
                      <a16:colId xmlns:a16="http://schemas.microsoft.com/office/drawing/2014/main" val="3697700678"/>
                    </a:ext>
                  </a:extLst>
                </a:gridCol>
                <a:gridCol w="1553496">
                  <a:extLst>
                    <a:ext uri="{9D8B030D-6E8A-4147-A177-3AD203B41FA5}">
                      <a16:colId xmlns:a16="http://schemas.microsoft.com/office/drawing/2014/main" val="786223768"/>
                    </a:ext>
                  </a:extLst>
                </a:gridCol>
                <a:gridCol w="2317965">
                  <a:extLst>
                    <a:ext uri="{9D8B030D-6E8A-4147-A177-3AD203B41FA5}">
                      <a16:colId xmlns:a16="http://schemas.microsoft.com/office/drawing/2014/main" val="2631180632"/>
                    </a:ext>
                  </a:extLst>
                </a:gridCol>
                <a:gridCol w="1918970">
                  <a:extLst>
                    <a:ext uri="{9D8B030D-6E8A-4147-A177-3AD203B41FA5}">
                      <a16:colId xmlns:a16="http://schemas.microsoft.com/office/drawing/2014/main" val="708860439"/>
                    </a:ext>
                  </a:extLst>
                </a:gridCol>
                <a:gridCol w="1990725">
                  <a:extLst>
                    <a:ext uri="{9D8B030D-6E8A-4147-A177-3AD203B41FA5}">
                      <a16:colId xmlns:a16="http://schemas.microsoft.com/office/drawing/2014/main" val="2853115332"/>
                    </a:ext>
                  </a:extLst>
                </a:gridCol>
                <a:gridCol w="2085975">
                  <a:extLst>
                    <a:ext uri="{9D8B030D-6E8A-4147-A177-3AD203B41FA5}">
                      <a16:colId xmlns:a16="http://schemas.microsoft.com/office/drawing/2014/main" val="64515562"/>
                    </a:ext>
                  </a:extLst>
                </a:gridCol>
              </a:tblGrid>
              <a:tr h="1325772">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S.NO</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Title</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Author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Journal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Year</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Methodology/Algorithms/Architecture used</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Merits </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Demerits</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Research gap</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1628389871"/>
                  </a:ext>
                </a:extLst>
              </a:tr>
              <a:tr h="5544133">
                <a:tc>
                  <a:txBody>
                    <a:bodyPr/>
                    <a:lstStyle/>
                    <a:p>
                      <a:pPr algn="l" fontAlgn="base"/>
                      <a:r>
                        <a:rPr lang="en-US" sz="1400" b="0" i="0" dirty="0">
                          <a:solidFill>
                            <a:srgbClr val="000000"/>
                          </a:solidFill>
                          <a:effectLst/>
                          <a:latin typeface="Times New Roman" panose="02020603050405020304" pitchFamily="18" charset="0"/>
                          <a:cs typeface="Times New Roman" panose="02020603050405020304" pitchFamily="18" charset="0"/>
                        </a:rPr>
                        <a:t>3.</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b="1" i="0" dirty="0">
                          <a:solidFill>
                            <a:schemeClr val="dk1"/>
                          </a:solidFill>
                          <a:effectLst/>
                          <a:latin typeface="+mn-lt"/>
                          <a:ea typeface="+mn-ea"/>
                          <a:cs typeface="+mn-cs"/>
                        </a:rPr>
                        <a:t>Revolutionizing crop disease detection with computational deep learning a comprehensive review</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IN" sz="1400" b="0" i="0" dirty="0">
                          <a:solidFill>
                            <a:schemeClr val="dk1"/>
                          </a:solidFill>
                          <a:effectLst/>
                          <a:latin typeface="+mn-lt"/>
                          <a:ea typeface="+mn-ea"/>
                          <a:cs typeface="+mn-cs"/>
                          <a:hlinkClick r:id="rId2"/>
                        </a:rPr>
                        <a:t>Habiba N. Ngugi</a:t>
                      </a:r>
                      <a:r>
                        <a:rPr lang="en-IN" sz="1400" b="0" i="0" dirty="0">
                          <a:solidFill>
                            <a:schemeClr val="dk1"/>
                          </a:solidFill>
                          <a:effectLst/>
                          <a:latin typeface="+mn-lt"/>
                          <a:ea typeface="+mn-ea"/>
                          <a:cs typeface="+mn-cs"/>
                        </a:rPr>
                        <a:t>, </a:t>
                      </a:r>
                    </a:p>
                    <a:p>
                      <a:r>
                        <a:rPr lang="en-IN" sz="1400" b="0" i="0" dirty="0">
                          <a:solidFill>
                            <a:schemeClr val="dk1"/>
                          </a:solidFill>
                          <a:effectLst/>
                          <a:latin typeface="+mn-lt"/>
                          <a:ea typeface="+mn-ea"/>
                          <a:cs typeface="+mn-cs"/>
                          <a:hlinkClick r:id="rId3"/>
                        </a:rPr>
                        <a:t>Absalom E. Ezugwu</a:t>
                      </a:r>
                      <a:r>
                        <a:rPr lang="en-IN" sz="1400" b="0" i="0" dirty="0">
                          <a:solidFill>
                            <a:schemeClr val="dk1"/>
                          </a:solidFill>
                          <a:effectLst/>
                          <a:latin typeface="+mn-lt"/>
                          <a:ea typeface="+mn-ea"/>
                          <a:cs typeface="+mn-cs"/>
                        </a:rPr>
                        <a:t>, </a:t>
                      </a:r>
                    </a:p>
                    <a:p>
                      <a:r>
                        <a:rPr lang="en-IN" sz="1400" b="0" i="0" dirty="0">
                          <a:solidFill>
                            <a:schemeClr val="dk1"/>
                          </a:solidFill>
                          <a:effectLst/>
                          <a:latin typeface="+mn-lt"/>
                          <a:ea typeface="+mn-ea"/>
                          <a:cs typeface="+mn-cs"/>
                          <a:hlinkClick r:id="rId4"/>
                        </a:rPr>
                        <a:t>Andronicus A. Akinyelu</a:t>
                      </a:r>
                      <a:r>
                        <a:rPr lang="en-IN" sz="1400" b="0" i="0" dirty="0">
                          <a:solidFill>
                            <a:schemeClr val="dk1"/>
                          </a:solidFill>
                          <a:effectLst/>
                          <a:latin typeface="+mn-lt"/>
                          <a:ea typeface="+mn-ea"/>
                          <a:cs typeface="+mn-cs"/>
                        </a:rPr>
                        <a:t> &amp; </a:t>
                      </a:r>
                    </a:p>
                    <a:p>
                      <a:r>
                        <a:rPr lang="en-IN" sz="1400" b="0" i="0" dirty="0">
                          <a:solidFill>
                            <a:schemeClr val="dk1"/>
                          </a:solidFill>
                          <a:effectLst/>
                          <a:latin typeface="+mn-lt"/>
                          <a:ea typeface="+mn-ea"/>
                          <a:cs typeface="+mn-cs"/>
                          <a:hlinkClick r:id="rId5"/>
                        </a:rPr>
                        <a:t>Laith Abualigah</a:t>
                      </a:r>
                      <a:endParaRPr lang="en-IN" sz="1400" b="0" i="0" dirty="0">
                        <a:solidFill>
                          <a:schemeClr val="dk1"/>
                        </a:solidFill>
                        <a:effectLst/>
                        <a:latin typeface="+mn-lt"/>
                        <a:ea typeface="+mn-ea"/>
                        <a:cs typeface="+mn-cs"/>
                      </a:endParaRPr>
                    </a:p>
                    <a:p>
                      <a:pPr fontAlgn="base"/>
                      <a:endParaRPr lang="en-IN" sz="1400" b="1" i="0" dirty="0">
                        <a:solidFill>
                          <a:schemeClr val="dk1"/>
                        </a:solidFill>
                        <a:effectLst/>
                        <a:latin typeface="+mn-lt"/>
                        <a:ea typeface="+mn-ea"/>
                        <a:cs typeface="+mn-cs"/>
                      </a:endParaRPr>
                    </a:p>
                    <a:p>
                      <a:pPr fontAlgn="base"/>
                      <a:endParaRPr lang="en-IN" sz="1400" b="1" i="0" dirty="0">
                        <a:solidFill>
                          <a:schemeClr val="dk1"/>
                        </a:solidFill>
                        <a:effectLst/>
                        <a:latin typeface="+mn-lt"/>
                        <a:ea typeface="+mn-ea"/>
                        <a:cs typeface="+mn-cs"/>
                      </a:endParaRPr>
                    </a:p>
                    <a:p>
                      <a:pPr marL="0" indent="0" algn="l">
                        <a:lnSpc>
                          <a:spcPct val="100000"/>
                        </a:lnSpc>
                        <a:buFont typeface="Arial" panose="020B0604020202020204" pitchFamily="34" charset="0"/>
                        <a:buNone/>
                      </a:pPr>
                      <a:r>
                        <a:rPr lang="pt-BR" sz="1400" b="1" i="0" u="none" strike="noStrike" kern="1200" spc="-1" dirty="0">
                          <a:solidFill>
                            <a:schemeClr val="tx1"/>
                          </a:solidFill>
                          <a:effectLst/>
                          <a:latin typeface="+mn-lt"/>
                          <a:ea typeface="+mn-ea"/>
                          <a:cs typeface="+mn-cs"/>
                        </a:rPr>
                        <a:t>DOI:</a:t>
                      </a:r>
                      <a:r>
                        <a:rPr lang="en-IN" sz="1400" b="0" i="0" dirty="0">
                          <a:solidFill>
                            <a:schemeClr val="dk1"/>
                          </a:solidFill>
                          <a:effectLst/>
                          <a:latin typeface="+mn-lt"/>
                          <a:ea typeface="+mn-ea"/>
                          <a:cs typeface="+mn-cs"/>
                        </a:rPr>
                        <a:t>https://doi.org/10.1007/s10661-024-12454-z</a:t>
                      </a:r>
                      <a:endParaRPr lang="en-IN" sz="1400" b="1" i="0" dirty="0">
                        <a:solidFill>
                          <a:schemeClr val="dk1"/>
                        </a:solidFill>
                        <a:effectLst/>
                        <a:latin typeface="+mn-lt"/>
                        <a:ea typeface="+mn-ea"/>
                        <a:cs typeface="+mn-cs"/>
                      </a:endParaRPr>
                    </a:p>
                    <a:p>
                      <a:pPr marL="0" marR="0" lvl="0" indent="0" defTabSz="914400" eaLnBrk="1" fontAlgn="base" latinLnBrk="0" hangingPunct="1">
                        <a:lnSpc>
                          <a:spcPct val="100000"/>
                        </a:lnSpc>
                        <a:spcBef>
                          <a:spcPts val="0"/>
                        </a:spcBef>
                        <a:spcAft>
                          <a:spcPts val="0"/>
                        </a:spcAft>
                        <a:buClrTx/>
                        <a:buSzTx/>
                        <a:buFontTx/>
                        <a:buNone/>
                        <a:tabLst/>
                        <a:defRPr/>
                      </a:pPr>
                      <a:endParaRPr lang="en-IN" sz="1400" b="1" i="0" dirty="0">
                        <a:solidFill>
                          <a:schemeClr val="dk1"/>
                        </a:solidFill>
                        <a:effectLst/>
                        <a:latin typeface="+mn-lt"/>
                        <a:ea typeface="+mn-ea"/>
                        <a:cs typeface="+mn-cs"/>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Methodology</a:t>
                      </a:r>
                    </a:p>
                    <a:p>
                      <a:r>
                        <a:rPr lang="en-US" sz="1400" b="1" dirty="0"/>
                        <a:t>Objective:</a:t>
                      </a:r>
                      <a:br>
                        <a:rPr lang="en-US" sz="1400" dirty="0"/>
                      </a:br>
                      <a:r>
                        <a:rPr lang="en-US" sz="1400" dirty="0"/>
                        <a:t>To comprehensively review and evaluate </a:t>
                      </a:r>
                      <a:r>
                        <a:rPr lang="en-US" sz="1400" b="1" dirty="0"/>
                        <a:t>recent advancements in digital image processing techniques</a:t>
                      </a:r>
                      <a:r>
                        <a:rPr lang="en-US" sz="1400" dirty="0"/>
                        <a:t> using </a:t>
                      </a:r>
                      <a:r>
                        <a:rPr lang="en-US" sz="1400" b="1" dirty="0"/>
                        <a:t>machine learning (ML)</a:t>
                      </a:r>
                      <a:r>
                        <a:rPr lang="en-US" sz="1400" dirty="0"/>
                        <a:t> and </a:t>
                      </a:r>
                      <a:r>
                        <a:rPr lang="en-US" sz="1400" b="1" dirty="0"/>
                        <a:t>deep learning (DL)</a:t>
                      </a:r>
                      <a:r>
                        <a:rPr lang="en-US" sz="1400" dirty="0"/>
                        <a:t> for the detection, classification, and severity assessment of crop diseases.</a:t>
                      </a:r>
                    </a:p>
                    <a:p>
                      <a:r>
                        <a:rPr lang="en-US" sz="1400" b="1" dirty="0"/>
                        <a:t>Literature Review Process:</a:t>
                      </a:r>
                      <a:endParaRPr lang="en-US" sz="1400" dirty="0"/>
                    </a:p>
                    <a:p>
                      <a:pPr lvl="0"/>
                      <a:r>
                        <a:rPr lang="en-US" sz="1400" dirty="0"/>
                        <a:t>Collected and analyzed </a:t>
                      </a:r>
                      <a:r>
                        <a:rPr lang="en-US" sz="1400" b="1" dirty="0"/>
                        <a:t>contemporary studies</a:t>
                      </a:r>
                      <a:r>
                        <a:rPr lang="en-US" sz="1400" dirty="0"/>
                        <a:t> focusing on the use of </a:t>
                      </a:r>
                      <a:r>
                        <a:rPr lang="en-US" sz="1400" b="1" dirty="0"/>
                        <a:t>CNN, KNN, SVM, ANN, and other DL models</a:t>
                      </a:r>
                      <a:r>
                        <a:rPr lang="en-US" sz="1400" dirty="0"/>
                        <a:t> for crop disease detection.</a:t>
                      </a:r>
                    </a:p>
                    <a:p>
                      <a:pPr lvl="0"/>
                      <a:r>
                        <a:rPr lang="en-US" sz="1400" dirty="0"/>
                        <a:t>Compared </a:t>
                      </a:r>
                      <a:r>
                        <a:rPr lang="en-US" sz="1400" b="1" dirty="0"/>
                        <a:t>different datasets</a:t>
                      </a:r>
                      <a:r>
                        <a:rPr lang="en-US" sz="1400" dirty="0"/>
                        <a:t>, architectures, and preprocessing methods used in prior research.</a:t>
                      </a:r>
                    </a:p>
                    <a:p>
                      <a:pPr lvl="0"/>
                      <a:r>
                        <a:rPr lang="en-US" sz="1400" dirty="0"/>
                        <a:t>Evaluated </a:t>
                      </a:r>
                      <a:r>
                        <a:rPr lang="en-US" sz="1400" b="1" dirty="0"/>
                        <a:t>performance metrics</a:t>
                      </a:r>
                      <a:r>
                        <a:rPr lang="en-US" sz="1400" dirty="0"/>
                        <a:t> such as accuracy, precision, recall, and F1-score from various studies to identify strengths and weaknesses of existing models.</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Comprehensive Coverage:</a:t>
                      </a:r>
                      <a:r>
                        <a:rPr lang="en-US" sz="1400" dirty="0"/>
                        <a:t> Reviews a wide spectrum of ML and DL algorithms used in crop disease detection.</a:t>
                      </a:r>
                    </a:p>
                    <a:p>
                      <a:r>
                        <a:rPr lang="en-US" sz="1400" b="1" dirty="0"/>
                        <a:t>Performance Benchmarking:</a:t>
                      </a:r>
                      <a:r>
                        <a:rPr lang="en-US" sz="1400" dirty="0"/>
                        <a:t> Evaluates and compares different models based on real experimental metrics.</a:t>
                      </a:r>
                    </a:p>
                    <a:p>
                      <a:r>
                        <a:rPr lang="en-US" sz="1400" b="1" dirty="0"/>
                        <a:t>Identifies Key Trends:</a:t>
                      </a:r>
                      <a:r>
                        <a:rPr lang="en-US" sz="1400" dirty="0"/>
                        <a:t> Highlights the dominance of CNNs and the emerging potential of novel architectures like Vision Transformers.</a:t>
                      </a:r>
                    </a:p>
                    <a:p>
                      <a:r>
                        <a:rPr lang="en-US" sz="1400" b="1" dirty="0"/>
                        <a:t>Dataset Evaluation:</a:t>
                      </a:r>
                      <a:r>
                        <a:rPr lang="en-US" sz="1400" dirty="0"/>
                        <a:t> Analyzes limitations and strengths of popular datasets such as PlantVillage.</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No Experimental Validation:</a:t>
                      </a:r>
                      <a:r>
                        <a:rPr lang="en-US" sz="1400" dirty="0"/>
                        <a:t> The paper is purely a review and does not include original experiments or implementation results.</a:t>
                      </a:r>
                    </a:p>
                    <a:p>
                      <a:r>
                        <a:rPr lang="en-US" sz="1400" b="1" dirty="0"/>
                        <a:t>Limited Quantitative Analysis:</a:t>
                      </a:r>
                      <a:r>
                        <a:rPr lang="en-US" sz="1400" dirty="0"/>
                        <a:t> Relies heavily on reported results without unified comparison metrics.</a:t>
                      </a:r>
                    </a:p>
                    <a:p>
                      <a:r>
                        <a:rPr lang="en-US" sz="1400" b="1" dirty="0"/>
                        <a:t>Dataset Bias:</a:t>
                      </a:r>
                      <a:r>
                        <a:rPr lang="en-US" sz="1400" dirty="0"/>
                        <a:t> Most reviewed studies depend on datasets tailored to specific crops or controlled environments.</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Need for Unified Frameworks:</a:t>
                      </a:r>
                      <a:r>
                        <a:rPr lang="en-US" sz="1400" dirty="0"/>
                        <a:t> Current models focus on </a:t>
                      </a:r>
                      <a:r>
                        <a:rPr lang="en-US" sz="1400" b="1" dirty="0"/>
                        <a:t>individual diseases</a:t>
                      </a:r>
                      <a:r>
                        <a:rPr lang="en-US" sz="1400" dirty="0"/>
                        <a:t> or </a:t>
                      </a:r>
                      <a:r>
                        <a:rPr lang="en-US" sz="1400" b="1" dirty="0"/>
                        <a:t>single algorithms</a:t>
                      </a:r>
                      <a:r>
                        <a:rPr lang="en-US" sz="1400" dirty="0"/>
                        <a:t>. There is a need for </a:t>
                      </a:r>
                      <a:r>
                        <a:rPr lang="en-US" sz="1400" b="1" dirty="0"/>
                        <a:t>ensemble or hybrid systems</a:t>
                      </a:r>
                      <a:r>
                        <a:rPr lang="en-US" sz="1400" dirty="0"/>
                        <a:t> combining ML and DL to handle multiple diseases effectively.</a:t>
                      </a:r>
                    </a:p>
                    <a:p>
                      <a:r>
                        <a:rPr lang="en-US" sz="1400" b="1" dirty="0"/>
                        <a:t>Diverse and Comprehensive Datasets:</a:t>
                      </a:r>
                      <a:r>
                        <a:rPr lang="en-US" sz="1400" dirty="0"/>
                        <a:t> Development of large, </a:t>
                      </a:r>
                      <a:r>
                        <a:rPr lang="en-US" sz="1400" b="1" dirty="0"/>
                        <a:t>generalized image datasets</a:t>
                      </a:r>
                      <a:r>
                        <a:rPr lang="en-US" sz="1400" dirty="0"/>
                        <a:t> that cover multiple crops, diseases, and environmental conditions.</a:t>
                      </a:r>
                    </a:p>
                    <a:p>
                      <a:r>
                        <a:rPr lang="en-US" sz="1400" b="1" dirty="0"/>
                        <a:t>Adoption of Emerging Architectures:</a:t>
                      </a:r>
                      <a:r>
                        <a:rPr lang="en-US" sz="1400" dirty="0"/>
                        <a:t> Limited exploration of </a:t>
                      </a:r>
                      <a:r>
                        <a:rPr lang="en-US" sz="1400" b="1" dirty="0"/>
                        <a:t>Capsule Networks</a:t>
                      </a:r>
                      <a:r>
                        <a:rPr lang="en-US" sz="1400" dirty="0"/>
                        <a:t>, </a:t>
                      </a:r>
                      <a:r>
                        <a:rPr lang="en-US" sz="1400" b="1" dirty="0"/>
                        <a:t>Vision Transformers</a:t>
                      </a:r>
                      <a:r>
                        <a:rPr lang="en-US" sz="1400" dirty="0"/>
                        <a:t>, and </a:t>
                      </a:r>
                      <a:r>
                        <a:rPr lang="en-US" sz="1400" b="1" dirty="0"/>
                        <a:t>Graph Neural Networks (GNNs)</a:t>
                      </a:r>
                      <a:r>
                        <a:rPr lang="en-US" sz="1400" dirty="0"/>
                        <a:t> for crop disease detection.</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2547163904"/>
                  </a:ext>
                </a:extLst>
              </a:tr>
            </a:tbl>
          </a:graphicData>
        </a:graphic>
      </p:graphicFrame>
    </p:spTree>
    <p:extLst>
      <p:ext uri="{BB962C8B-B14F-4D97-AF65-F5344CB8AC3E}">
        <p14:creationId xmlns:p14="http://schemas.microsoft.com/office/powerpoint/2010/main" val="1530028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42A1A-6AB1-4BE3-76C8-BD1897FEB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4782C-194B-9E78-A1B4-1647C759B382}"/>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CDD19A72-70D0-69FD-93CB-FBFCF780E952}"/>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71F73BFA-840A-D52C-E0C8-CEAB0A968C25}"/>
              </a:ext>
            </a:extLst>
          </p:cNvPr>
          <p:cNvGraphicFramePr>
            <a:graphicFrameLocks noGrp="1"/>
          </p:cNvGraphicFramePr>
          <p:nvPr>
            <p:extLst>
              <p:ext uri="{D42A27DB-BD31-4B8C-83A1-F6EECF244321}">
                <p14:modId xmlns:p14="http://schemas.microsoft.com/office/powerpoint/2010/main" val="3788148415"/>
              </p:ext>
            </p:extLst>
          </p:nvPr>
        </p:nvGraphicFramePr>
        <p:xfrm>
          <a:off x="14287" y="-11905"/>
          <a:ext cx="12163425" cy="8031372"/>
        </p:xfrm>
        <a:graphic>
          <a:graphicData uri="http://schemas.openxmlformats.org/drawingml/2006/table">
            <a:tbl>
              <a:tblPr bandRow="1">
                <a:tableStyleId>{5C22544A-7EE6-4342-B048-85BDC9FD1C3A}</a:tableStyleId>
              </a:tblPr>
              <a:tblGrid>
                <a:gridCol w="605145">
                  <a:extLst>
                    <a:ext uri="{9D8B030D-6E8A-4147-A177-3AD203B41FA5}">
                      <a16:colId xmlns:a16="http://schemas.microsoft.com/office/drawing/2014/main" val="3191128577"/>
                    </a:ext>
                  </a:extLst>
                </a:gridCol>
                <a:gridCol w="1730478">
                  <a:extLst>
                    <a:ext uri="{9D8B030D-6E8A-4147-A177-3AD203B41FA5}">
                      <a16:colId xmlns:a16="http://schemas.microsoft.com/office/drawing/2014/main" val="3697700678"/>
                    </a:ext>
                  </a:extLst>
                </a:gridCol>
                <a:gridCol w="1514167">
                  <a:extLst>
                    <a:ext uri="{9D8B030D-6E8A-4147-A177-3AD203B41FA5}">
                      <a16:colId xmlns:a16="http://schemas.microsoft.com/office/drawing/2014/main" val="786223768"/>
                    </a:ext>
                  </a:extLst>
                </a:gridCol>
                <a:gridCol w="2317965">
                  <a:extLst>
                    <a:ext uri="{9D8B030D-6E8A-4147-A177-3AD203B41FA5}">
                      <a16:colId xmlns:a16="http://schemas.microsoft.com/office/drawing/2014/main" val="2631180632"/>
                    </a:ext>
                  </a:extLst>
                </a:gridCol>
                <a:gridCol w="1918970">
                  <a:extLst>
                    <a:ext uri="{9D8B030D-6E8A-4147-A177-3AD203B41FA5}">
                      <a16:colId xmlns:a16="http://schemas.microsoft.com/office/drawing/2014/main" val="708860439"/>
                    </a:ext>
                  </a:extLst>
                </a:gridCol>
                <a:gridCol w="1990725">
                  <a:extLst>
                    <a:ext uri="{9D8B030D-6E8A-4147-A177-3AD203B41FA5}">
                      <a16:colId xmlns:a16="http://schemas.microsoft.com/office/drawing/2014/main" val="2853115332"/>
                    </a:ext>
                  </a:extLst>
                </a:gridCol>
                <a:gridCol w="2085975">
                  <a:extLst>
                    <a:ext uri="{9D8B030D-6E8A-4147-A177-3AD203B41FA5}">
                      <a16:colId xmlns:a16="http://schemas.microsoft.com/office/drawing/2014/main" val="64515562"/>
                    </a:ext>
                  </a:extLst>
                </a:gridCol>
              </a:tblGrid>
              <a:tr h="1325772">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S.NO</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Title</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Author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Journal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Year</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Methodology/Algorithms/Architecture used</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Merits </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Demerits</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Research gap</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1628389871"/>
                  </a:ext>
                </a:extLst>
              </a:tr>
              <a:tr h="5544133">
                <a:tc>
                  <a:txBody>
                    <a:bodyPr/>
                    <a:lstStyle/>
                    <a:p>
                      <a:pPr algn="l" fontAlgn="base"/>
                      <a:r>
                        <a:rPr lang="en-US" sz="1400" b="0" i="0" dirty="0">
                          <a:solidFill>
                            <a:srgbClr val="000000"/>
                          </a:solidFill>
                          <a:effectLst/>
                          <a:latin typeface="Times New Roman" panose="02020603050405020304" pitchFamily="18" charset="0"/>
                          <a:cs typeface="Times New Roman" panose="02020603050405020304" pitchFamily="18" charset="0"/>
                        </a:rPr>
                        <a:t>4.</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b="1" i="0" dirty="0">
                          <a:solidFill>
                            <a:schemeClr val="dk1"/>
                          </a:solidFill>
                          <a:effectLst/>
                          <a:latin typeface="+mn-lt"/>
                          <a:ea typeface="+mn-ea"/>
                          <a:cs typeface="+mn-cs"/>
                        </a:rPr>
                        <a:t>Deep Learning for Plant Disease Detection</a:t>
                      </a:r>
                      <a:endParaRPr lang="en-US" sz="1800" b="1" dirty="0">
                        <a:solidFill>
                          <a:schemeClr val="tx1"/>
                        </a:solidFill>
                        <a:effectLst/>
                        <a:latin typeface="+mn-lt"/>
                        <a:ea typeface="+mn-ea"/>
                        <a:cs typeface="+mn-cs"/>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pPr marL="0" indent="0" algn="l">
                        <a:lnSpc>
                          <a:spcPct val="100000"/>
                        </a:lnSpc>
                        <a:buFont typeface="Arial" panose="020B0604020202020204" pitchFamily="34" charset="0"/>
                        <a:buNone/>
                      </a:pPr>
                      <a:r>
                        <a:rPr lang="en-IN" sz="1400" b="0" i="0" dirty="0">
                          <a:solidFill>
                            <a:schemeClr val="dk1"/>
                          </a:solidFill>
                          <a:effectLst/>
                          <a:latin typeface="+mn-lt"/>
                          <a:ea typeface="+mn-ea"/>
                          <a:cs typeface="+mn-cs"/>
                        </a:rPr>
                        <a:t>Munaf Mudheher Khalid1, Oguz Karan1,*1Altinbas University, 34217 İstanbul, Turkiyemalmoudher97@gmail.com; oguz.karan@altinbas.edu.tr</a:t>
                      </a:r>
                      <a:endParaRPr lang="en-IN" sz="1400" b="1" i="0" dirty="0">
                        <a:solidFill>
                          <a:schemeClr val="dk1"/>
                        </a:solidFill>
                        <a:effectLst/>
                        <a:latin typeface="+mn-lt"/>
                        <a:ea typeface="+mn-ea"/>
                        <a:cs typeface="+mn-cs"/>
                      </a:endParaRPr>
                    </a:p>
                    <a:p>
                      <a:pPr fontAlgn="base"/>
                      <a:endParaRPr lang="en-IN" sz="1400" b="1" i="0" dirty="0">
                        <a:solidFill>
                          <a:schemeClr val="dk1"/>
                        </a:solidFill>
                        <a:effectLst/>
                        <a:latin typeface="+mn-lt"/>
                        <a:ea typeface="+mn-ea"/>
                        <a:cs typeface="+mn-cs"/>
                      </a:endParaRPr>
                    </a:p>
                    <a:p>
                      <a:pPr marL="0" indent="0" algn="l">
                        <a:lnSpc>
                          <a:spcPct val="100000"/>
                        </a:lnSpc>
                        <a:buFont typeface="Arial" panose="020B0604020202020204" pitchFamily="34" charset="0"/>
                        <a:buNone/>
                      </a:pPr>
                      <a:r>
                        <a:rPr lang="pt-BR" sz="1400" b="1" i="0" u="none" strike="noStrike" kern="1200" spc="-1" dirty="0">
                          <a:solidFill>
                            <a:schemeClr val="tx1"/>
                          </a:solidFill>
                          <a:effectLst/>
                          <a:latin typeface="+mn-lt"/>
                          <a:ea typeface="+mn-ea"/>
                          <a:cs typeface="+mn-cs"/>
                        </a:rPr>
                        <a:t>DOI:</a:t>
                      </a:r>
                      <a:r>
                        <a:rPr lang="en-IN" sz="1400" b="0" i="0" dirty="0">
                          <a:solidFill>
                            <a:schemeClr val="dk1"/>
                          </a:solidFill>
                          <a:effectLst/>
                          <a:latin typeface="+mn-lt"/>
                          <a:ea typeface="+mn-ea"/>
                          <a:cs typeface="+mn-cs"/>
                        </a:rPr>
                        <a:t>10.59543/ijmscs.v2i.8343</a:t>
                      </a:r>
                      <a:endParaRPr lang="en-IN" sz="1400" b="1" i="0" dirty="0">
                        <a:solidFill>
                          <a:schemeClr val="dk1"/>
                        </a:solidFill>
                        <a:effectLst/>
                        <a:latin typeface="+mn-lt"/>
                        <a:ea typeface="+mn-ea"/>
                        <a:cs typeface="+mn-cs"/>
                      </a:endParaRPr>
                    </a:p>
                    <a:p>
                      <a:pPr marL="0" marR="0" lvl="0" indent="0" defTabSz="914400" eaLnBrk="1" fontAlgn="base" latinLnBrk="0" hangingPunct="1">
                        <a:lnSpc>
                          <a:spcPct val="100000"/>
                        </a:lnSpc>
                        <a:spcBef>
                          <a:spcPts val="0"/>
                        </a:spcBef>
                        <a:spcAft>
                          <a:spcPts val="0"/>
                        </a:spcAft>
                        <a:buClrTx/>
                        <a:buSzTx/>
                        <a:buFontTx/>
                        <a:buNone/>
                        <a:tabLst/>
                        <a:defRPr/>
                      </a:pPr>
                      <a:endParaRPr lang="en-IN" sz="1400" b="1" i="0" dirty="0">
                        <a:solidFill>
                          <a:schemeClr val="dk1"/>
                        </a:solidFill>
                        <a:effectLst/>
                        <a:latin typeface="+mn-lt"/>
                        <a:ea typeface="+mn-ea"/>
                        <a:cs typeface="+mn-cs"/>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Dataset Preparation</a:t>
                      </a:r>
                      <a:endParaRPr lang="en-US" sz="1400" dirty="0"/>
                    </a:p>
                    <a:p>
                      <a:r>
                        <a:rPr lang="en-US" sz="1400" dirty="0"/>
                        <a:t>A collection of </a:t>
                      </a:r>
                      <a:r>
                        <a:rPr lang="en-US" sz="1400" b="1" dirty="0"/>
                        <a:t>plant leaf images</a:t>
                      </a:r>
                      <a:r>
                        <a:rPr lang="en-US" sz="1400" dirty="0"/>
                        <a:t> was used, containing samples of both healthy and diseased plants.</a:t>
                      </a:r>
                    </a:p>
                    <a:p>
                      <a:r>
                        <a:rPr lang="en-US" sz="1400" dirty="0"/>
                        <a:t>Images were </a:t>
                      </a:r>
                      <a:r>
                        <a:rPr lang="en-US" sz="1400" b="1" dirty="0"/>
                        <a:t>preprocessed</a:t>
                      </a:r>
                      <a:r>
                        <a:rPr lang="en-US" sz="1400" dirty="0"/>
                        <a:t> using resizing, normalization, and augmentation techniques (e.g., rotation, flipping) to enhance model generalization and prevent overfitting.</a:t>
                      </a:r>
                    </a:p>
                    <a:p>
                      <a:r>
                        <a:rPr lang="en-US" sz="1400" b="1" dirty="0"/>
                        <a:t>Model Design and Training</a:t>
                      </a:r>
                      <a:endParaRPr lang="en-US" sz="1400" dirty="0"/>
                    </a:p>
                    <a:p>
                      <a:r>
                        <a:rPr lang="en-US" sz="1400" dirty="0"/>
                        <a:t>Two </a:t>
                      </a:r>
                      <a:r>
                        <a:rPr lang="en-US" sz="1400" b="1" dirty="0"/>
                        <a:t>Deep Learning models</a:t>
                      </a:r>
                      <a:r>
                        <a:rPr lang="en-US" sz="1400" dirty="0"/>
                        <a:t> were implemented:</a:t>
                      </a:r>
                    </a:p>
                    <a:p>
                      <a:pPr lvl="0"/>
                      <a:r>
                        <a:rPr lang="en-US" sz="1400" b="1" dirty="0"/>
                        <a:t>Convolutional Neural Network (CNN)</a:t>
                      </a:r>
                      <a:r>
                        <a:rPr lang="en-US" sz="1400" dirty="0"/>
                        <a:t> – built from scratch or adapted for disease classification.</a:t>
                      </a:r>
                    </a:p>
                    <a:p>
                      <a:pPr lvl="0"/>
                      <a:r>
                        <a:rPr lang="en-US" sz="1400" b="1" dirty="0"/>
                        <a:t>MobileNet</a:t>
                      </a:r>
                      <a:r>
                        <a:rPr lang="en-US" sz="1400" dirty="0"/>
                        <a:t> – a lightweight pre-trained model optimized for computational efficiency and mobile deployment.</a:t>
                      </a:r>
                    </a:p>
                    <a:p>
                      <a:r>
                        <a:rPr lang="en-US" sz="1400" dirty="0"/>
                        <a:t>Both models were trained to classify plant diseases based on visual symptoms in leaf images.</a:t>
                      </a:r>
                    </a:p>
                    <a:p>
                      <a:r>
                        <a:rPr lang="en-US" sz="1400" b="1" dirty="0"/>
                        <a:t>Training parameters</a:t>
                      </a:r>
                      <a:r>
                        <a:rPr lang="en-US" sz="1400" dirty="0"/>
                        <a:t> such as learning rate, batch size, and epochs were tuned for optimal performance.</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High Accuracy:</a:t>
                      </a:r>
                      <a:r>
                        <a:rPr lang="en-US" sz="1400" dirty="0"/>
                        <a:t> Both CNN and MobileNet achieved strong classification results, proving DL’s reliability in disease detection.</a:t>
                      </a:r>
                    </a:p>
                    <a:p>
                      <a:r>
                        <a:rPr lang="en-US" sz="1400" b="1" dirty="0"/>
                        <a:t>Use of XAI:</a:t>
                      </a:r>
                      <a:r>
                        <a:rPr lang="en-US" sz="1400" dirty="0"/>
                        <a:t> Grad-CAM adds transparency, making the model’s predictions interpretable and trustworthy.</a:t>
                      </a:r>
                    </a:p>
                    <a:p>
                      <a:r>
                        <a:rPr lang="en-US" sz="1400" b="1" dirty="0"/>
                        <a:t>Automation:</a:t>
                      </a:r>
                      <a:r>
                        <a:rPr lang="en-US" sz="1400" dirty="0"/>
                        <a:t> Reduces dependency on manual disease detection, saving time and labor.</a:t>
                      </a:r>
                    </a:p>
                    <a:p>
                      <a:r>
                        <a:rPr lang="en-US" sz="1400" b="1" dirty="0"/>
                        <a:t>Scalable:</a:t>
                      </a:r>
                      <a:r>
                        <a:rPr lang="en-US" sz="1400" dirty="0"/>
                        <a:t> Can be integrated into mobile applications for on-field plant monitoring.</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IN" sz="1400" b="1" dirty="0"/>
                        <a:t>Dataset Dependence:</a:t>
                      </a:r>
                      <a:r>
                        <a:rPr lang="en-IN" sz="1400" dirty="0"/>
                        <a:t> Performance heavily depends on dataset quality, diversity, and size.</a:t>
                      </a:r>
                    </a:p>
                    <a:p>
                      <a:r>
                        <a:rPr lang="en-IN" sz="1400" b="1" dirty="0"/>
                        <a:t>Computational Cost:</a:t>
                      </a:r>
                      <a:r>
                        <a:rPr lang="en-IN" sz="1400" dirty="0"/>
                        <a:t> CNN training requires significant computational resources and time.</a:t>
                      </a:r>
                    </a:p>
                    <a:p>
                      <a:r>
                        <a:rPr lang="en-IN" sz="1400" b="1" dirty="0"/>
                        <a:t>Limited Generalization:</a:t>
                      </a:r>
                      <a:r>
                        <a:rPr lang="en-IN" sz="1400" dirty="0"/>
                        <a:t> Models may underperform on unseen diseases or environmental variations (lighting, background).</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Limited Dataset Coverage:</a:t>
                      </a:r>
                      <a:r>
                        <a:rPr lang="en-US" sz="1400" dirty="0"/>
                        <a:t> Current models may not cover all plant species or disease variations.</a:t>
                      </a:r>
                    </a:p>
                    <a:p>
                      <a:r>
                        <a:rPr lang="en-US" sz="1400" b="1" dirty="0"/>
                        <a:t>Absence of Real-Time Implementation:</a:t>
                      </a:r>
                      <a:r>
                        <a:rPr lang="en-US" sz="1400" dirty="0"/>
                        <a:t> The study focuses on lab-based validation; deployment in real agricultural environments is missing.</a:t>
                      </a:r>
                    </a:p>
                    <a:p>
                      <a:r>
                        <a:rPr lang="en-US" sz="1400" b="1" dirty="0"/>
                        <a:t>Environmental Robustness:</a:t>
                      </a:r>
                      <a:r>
                        <a:rPr lang="en-US" sz="1400" dirty="0"/>
                        <a:t> The effect of varying illumination, camera quality, and environmental noise on model performance is not analyzed.</a:t>
                      </a:r>
                    </a:p>
                    <a:p>
                      <a:r>
                        <a:rPr lang="en-US" sz="1400" b="1" dirty="0"/>
                        <a:t>Lack of Hybrid Approach:</a:t>
                      </a:r>
                      <a:r>
                        <a:rPr lang="en-US" sz="1400" dirty="0"/>
                        <a:t> Integration of image-based and sensor-based data (like temperature or humidity) could improve accuracy.</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2547163904"/>
                  </a:ext>
                </a:extLst>
              </a:tr>
            </a:tbl>
          </a:graphicData>
        </a:graphic>
      </p:graphicFrame>
    </p:spTree>
    <p:extLst>
      <p:ext uri="{BB962C8B-B14F-4D97-AF65-F5344CB8AC3E}">
        <p14:creationId xmlns:p14="http://schemas.microsoft.com/office/powerpoint/2010/main" val="1659894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EA39A-86A3-9D0E-F298-AD581FD2A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4FA47-43CA-830A-3F7E-0D789485225B}"/>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C691DDDC-EA85-82BA-F32A-2615C553CAA3}"/>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56E0E27F-E262-2179-9A10-5050B423D439}"/>
              </a:ext>
            </a:extLst>
          </p:cNvPr>
          <p:cNvGraphicFramePr>
            <a:graphicFrameLocks noGrp="1"/>
          </p:cNvGraphicFramePr>
          <p:nvPr>
            <p:extLst>
              <p:ext uri="{D42A27DB-BD31-4B8C-83A1-F6EECF244321}">
                <p14:modId xmlns:p14="http://schemas.microsoft.com/office/powerpoint/2010/main" val="393224694"/>
              </p:ext>
            </p:extLst>
          </p:nvPr>
        </p:nvGraphicFramePr>
        <p:xfrm>
          <a:off x="14287" y="-11905"/>
          <a:ext cx="12163425" cy="6869905"/>
        </p:xfrm>
        <a:graphic>
          <a:graphicData uri="http://schemas.openxmlformats.org/drawingml/2006/table">
            <a:tbl>
              <a:tblPr bandRow="1">
                <a:tableStyleId>{5C22544A-7EE6-4342-B048-85BDC9FD1C3A}</a:tableStyleId>
              </a:tblPr>
              <a:tblGrid>
                <a:gridCol w="605145">
                  <a:extLst>
                    <a:ext uri="{9D8B030D-6E8A-4147-A177-3AD203B41FA5}">
                      <a16:colId xmlns:a16="http://schemas.microsoft.com/office/drawing/2014/main" val="3191128577"/>
                    </a:ext>
                  </a:extLst>
                </a:gridCol>
                <a:gridCol w="1700981">
                  <a:extLst>
                    <a:ext uri="{9D8B030D-6E8A-4147-A177-3AD203B41FA5}">
                      <a16:colId xmlns:a16="http://schemas.microsoft.com/office/drawing/2014/main" val="3697700678"/>
                    </a:ext>
                  </a:extLst>
                </a:gridCol>
                <a:gridCol w="1543664">
                  <a:extLst>
                    <a:ext uri="{9D8B030D-6E8A-4147-A177-3AD203B41FA5}">
                      <a16:colId xmlns:a16="http://schemas.microsoft.com/office/drawing/2014/main" val="786223768"/>
                    </a:ext>
                  </a:extLst>
                </a:gridCol>
                <a:gridCol w="2317965">
                  <a:extLst>
                    <a:ext uri="{9D8B030D-6E8A-4147-A177-3AD203B41FA5}">
                      <a16:colId xmlns:a16="http://schemas.microsoft.com/office/drawing/2014/main" val="2631180632"/>
                    </a:ext>
                  </a:extLst>
                </a:gridCol>
                <a:gridCol w="1918970">
                  <a:extLst>
                    <a:ext uri="{9D8B030D-6E8A-4147-A177-3AD203B41FA5}">
                      <a16:colId xmlns:a16="http://schemas.microsoft.com/office/drawing/2014/main" val="708860439"/>
                    </a:ext>
                  </a:extLst>
                </a:gridCol>
                <a:gridCol w="1990725">
                  <a:extLst>
                    <a:ext uri="{9D8B030D-6E8A-4147-A177-3AD203B41FA5}">
                      <a16:colId xmlns:a16="http://schemas.microsoft.com/office/drawing/2014/main" val="2853115332"/>
                    </a:ext>
                  </a:extLst>
                </a:gridCol>
                <a:gridCol w="2085975">
                  <a:extLst>
                    <a:ext uri="{9D8B030D-6E8A-4147-A177-3AD203B41FA5}">
                      <a16:colId xmlns:a16="http://schemas.microsoft.com/office/drawing/2014/main" val="64515562"/>
                    </a:ext>
                  </a:extLst>
                </a:gridCol>
              </a:tblGrid>
              <a:tr h="1325772">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S.NO</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Title</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Author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Journal </a:t>
                      </a:r>
                      <a:endParaRPr lang="en-IN" sz="2000" b="0" strike="noStrike" spc="-1" dirty="0">
                        <a:latin typeface="Times New Roman" panose="02020603050405020304" pitchFamily="18" charset="0"/>
                        <a:cs typeface="Times New Roman" panose="02020603050405020304" pitchFamily="18" charset="0"/>
                      </a:endParaRPr>
                    </a:p>
                    <a:p>
                      <a:pPr algn="ctr">
                        <a:lnSpc>
                          <a:spcPct val="100000"/>
                        </a:lnSpc>
                        <a:buNone/>
                      </a:pPr>
                      <a:r>
                        <a:rPr lang="en-IN" sz="2000" b="0" strike="noStrike" spc="-1" dirty="0">
                          <a:solidFill>
                            <a:srgbClr val="000000"/>
                          </a:solidFill>
                          <a:latin typeface="Times New Roman" panose="02020603050405020304" pitchFamily="18" charset="0"/>
                          <a:cs typeface="Times New Roman" panose="02020603050405020304" pitchFamily="18" charset="0"/>
                        </a:rPr>
                        <a:t>Year</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Methodology/Algorithms/Architecture used</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Merits </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Demerits</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tc>
                  <a:txBody>
                    <a:bodyPr/>
                    <a:lstStyle/>
                    <a:p>
                      <a:pPr algn="ctr">
                        <a:lnSpc>
                          <a:spcPct val="100000"/>
                        </a:lnSpc>
                        <a:buNone/>
                        <a:tabLst>
                          <a:tab pos="0" algn="l"/>
                        </a:tabLst>
                      </a:pPr>
                      <a:r>
                        <a:rPr lang="en-IN" sz="2000" b="0" strike="noStrike" spc="-1" dirty="0">
                          <a:solidFill>
                            <a:srgbClr val="000000"/>
                          </a:solidFill>
                          <a:latin typeface="Times New Roman" panose="02020603050405020304" pitchFamily="18" charset="0"/>
                          <a:cs typeface="Times New Roman" panose="02020603050405020304" pitchFamily="18" charset="0"/>
                        </a:rPr>
                        <a:t>Research gap</a:t>
                      </a:r>
                      <a:endParaRPr lang="en-IN" sz="2000" b="0" strike="noStrike" spc="-1" dirty="0">
                        <a:latin typeface="Times New Roman" panose="02020603050405020304" pitchFamily="18" charset="0"/>
                        <a:cs typeface="Times New Roman" panose="02020603050405020304" pitchFamily="18" charset="0"/>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1628389871"/>
                  </a:ext>
                </a:extLst>
              </a:tr>
              <a:tr h="5544133">
                <a:tc>
                  <a:txBody>
                    <a:bodyPr/>
                    <a:lstStyle/>
                    <a:p>
                      <a:pPr algn="l" fontAlgn="base"/>
                      <a:r>
                        <a:rPr lang="en-US" sz="1400" b="0" i="0" dirty="0">
                          <a:solidFill>
                            <a:srgbClr val="000000"/>
                          </a:solidFill>
                          <a:effectLst/>
                          <a:latin typeface="Times New Roman" panose="02020603050405020304" pitchFamily="18" charset="0"/>
                          <a:cs typeface="Times New Roman" panose="02020603050405020304" pitchFamily="18" charset="0"/>
                        </a:rPr>
                        <a:t>5.</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b="1" i="0" dirty="0">
                          <a:solidFill>
                            <a:schemeClr val="dk1"/>
                          </a:solidFill>
                          <a:effectLst/>
                          <a:latin typeface="+mn-lt"/>
                          <a:ea typeface="+mn-ea"/>
                          <a:cs typeface="+mn-cs"/>
                        </a:rPr>
                        <a:t>Automatic recognition of Rice Plant leaf diseases detection using deep neural network with improved threshold neural network</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pPr marL="0" indent="0" algn="l">
                        <a:lnSpc>
                          <a:spcPct val="100000"/>
                        </a:lnSpc>
                        <a:buFont typeface="Arial" panose="020B0604020202020204" pitchFamily="34" charset="0"/>
                        <a:buNone/>
                      </a:pPr>
                      <a:r>
                        <a:rPr lang="en-US" sz="1400" dirty="0">
                          <a:effectLst/>
                        </a:rPr>
                        <a:t>K. Mahadevan </a:t>
                      </a:r>
                      <a:r>
                        <a:rPr lang="en-US" sz="1400" baseline="30000" dirty="0">
                          <a:effectLst/>
                        </a:rPr>
                        <a:t>a</a:t>
                      </a:r>
                      <a:r>
                        <a:rPr lang="en-US" sz="1400" b="0" i="0" dirty="0">
                          <a:solidFill>
                            <a:schemeClr val="dk1"/>
                          </a:solidFill>
                          <a:effectLst/>
                          <a:latin typeface="+mn-lt"/>
                          <a:ea typeface="+mn-ea"/>
                          <a:cs typeface="+mn-cs"/>
                        </a:rPr>
                        <a:t>, </a:t>
                      </a:r>
                      <a:r>
                        <a:rPr lang="en-US" sz="1400" dirty="0">
                          <a:effectLst/>
                        </a:rPr>
                        <a:t>A. Punitha </a:t>
                      </a:r>
                      <a:r>
                        <a:rPr lang="en-US" sz="1400" baseline="30000" dirty="0">
                          <a:effectLst/>
                        </a:rPr>
                        <a:t>b</a:t>
                      </a:r>
                      <a:r>
                        <a:rPr lang="en-US" sz="1400" b="0" i="0" dirty="0">
                          <a:solidFill>
                            <a:schemeClr val="dk1"/>
                          </a:solidFill>
                          <a:effectLst/>
                          <a:latin typeface="+mn-lt"/>
                          <a:ea typeface="+mn-ea"/>
                          <a:cs typeface="+mn-cs"/>
                        </a:rPr>
                        <a:t>, </a:t>
                      </a:r>
                      <a:r>
                        <a:rPr lang="en-US" sz="1400" dirty="0">
                          <a:effectLst/>
                        </a:rPr>
                        <a:t>J. Suresh </a:t>
                      </a:r>
                      <a:r>
                        <a:rPr lang="en-US" sz="1400" baseline="30000" dirty="0">
                          <a:effectLst/>
                        </a:rPr>
                        <a:t>c</a:t>
                      </a:r>
                      <a:endParaRPr lang="en-IN" sz="1400" b="1" i="0" dirty="0">
                        <a:solidFill>
                          <a:schemeClr val="dk1"/>
                        </a:solidFill>
                        <a:effectLst/>
                        <a:latin typeface="+mn-lt"/>
                        <a:ea typeface="+mn-ea"/>
                        <a:cs typeface="+mn-cs"/>
                      </a:endParaRPr>
                    </a:p>
                    <a:p>
                      <a:pPr fontAlgn="base"/>
                      <a:endParaRPr lang="en-IN" sz="1400" b="1" i="0" dirty="0">
                        <a:solidFill>
                          <a:schemeClr val="dk1"/>
                        </a:solidFill>
                        <a:effectLst/>
                        <a:latin typeface="+mn-lt"/>
                        <a:ea typeface="+mn-ea"/>
                        <a:cs typeface="+mn-cs"/>
                      </a:endParaRPr>
                    </a:p>
                    <a:p>
                      <a:pPr marL="0" indent="0" algn="l">
                        <a:lnSpc>
                          <a:spcPct val="100000"/>
                        </a:lnSpc>
                        <a:buFont typeface="Arial" panose="020B0604020202020204" pitchFamily="34" charset="0"/>
                        <a:buNone/>
                      </a:pPr>
                      <a:r>
                        <a:rPr lang="pt-BR" sz="1400" b="1" i="0" u="none" strike="noStrike" kern="1200" spc="-1" dirty="0">
                          <a:solidFill>
                            <a:schemeClr val="tx1"/>
                          </a:solidFill>
                          <a:effectLst/>
                          <a:latin typeface="+mn-lt"/>
                          <a:ea typeface="+mn-ea"/>
                          <a:cs typeface="+mn-cs"/>
                        </a:rPr>
                        <a:t>DOI:</a:t>
                      </a:r>
                      <a:r>
                        <a:rPr lang="en-IN" sz="1400" b="0" i="0" u="none" strike="noStrike" dirty="0">
                          <a:solidFill>
                            <a:schemeClr val="dk1"/>
                          </a:solidFill>
                          <a:effectLst/>
                          <a:latin typeface="+mn-lt"/>
                          <a:ea typeface="+mn-ea"/>
                          <a:cs typeface="+mn-cs"/>
                          <a:hlinkClick r:id="rId2" tooltip="Persistent link using digital object identifier"/>
                        </a:rPr>
                        <a:t>https://doi.org/10.1016/j.prime.2024.100534</a:t>
                      </a:r>
                      <a:endParaRPr lang="en-IN" sz="1400" b="1" i="0" dirty="0">
                        <a:solidFill>
                          <a:schemeClr val="dk1"/>
                        </a:solidFill>
                        <a:effectLst/>
                        <a:latin typeface="+mn-lt"/>
                        <a:ea typeface="+mn-ea"/>
                        <a:cs typeface="+mn-cs"/>
                      </a:endParaRPr>
                    </a:p>
                    <a:p>
                      <a:pPr marL="0" marR="0" lvl="0" indent="0" defTabSz="914400" eaLnBrk="1" fontAlgn="base" latinLnBrk="0" hangingPunct="1">
                        <a:lnSpc>
                          <a:spcPct val="100000"/>
                        </a:lnSpc>
                        <a:spcBef>
                          <a:spcPts val="0"/>
                        </a:spcBef>
                        <a:spcAft>
                          <a:spcPts val="0"/>
                        </a:spcAft>
                        <a:buClrTx/>
                        <a:buSzTx/>
                        <a:buFontTx/>
                        <a:buNone/>
                        <a:tabLst/>
                        <a:defRPr/>
                      </a:pPr>
                      <a:endParaRPr lang="en-IN" sz="1400" b="1" i="0" dirty="0">
                        <a:solidFill>
                          <a:schemeClr val="dk1"/>
                        </a:solidFill>
                        <a:effectLst/>
                        <a:latin typeface="+mn-lt"/>
                        <a:ea typeface="+mn-ea"/>
                        <a:cs typeface="+mn-cs"/>
                      </a:endParaRP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Dataset Preparation</a:t>
                      </a:r>
                      <a:endParaRPr lang="en-US" sz="1400" dirty="0"/>
                    </a:p>
                    <a:p>
                      <a:r>
                        <a:rPr lang="en-US" sz="1400" dirty="0"/>
                        <a:t>The dataset includes </a:t>
                      </a:r>
                      <a:r>
                        <a:rPr lang="en-US" sz="1400" b="1" dirty="0"/>
                        <a:t>images of healthy and diseased rice plant leaves</a:t>
                      </a:r>
                      <a:r>
                        <a:rPr lang="en-US" sz="1400" dirty="0"/>
                        <a:t> collected from real agricultural environments.</a:t>
                      </a:r>
                    </a:p>
                    <a:p>
                      <a:r>
                        <a:rPr lang="en-US" sz="1400" dirty="0"/>
                        <a:t>Images are preprocessed to standardize lighting, resolution, and background noise before being fed into the model.</a:t>
                      </a:r>
                    </a:p>
                    <a:p>
                      <a:r>
                        <a:rPr lang="en-US" sz="1400" b="1" dirty="0"/>
                        <a:t>Image Enhancement (ITNN – Improved Threshold Neural Network)</a:t>
                      </a:r>
                      <a:endParaRPr lang="en-US" sz="1400" dirty="0"/>
                    </a:p>
                    <a:p>
                      <a:r>
                        <a:rPr lang="en-US" sz="1400" dirty="0"/>
                        <a:t>The </a:t>
                      </a:r>
                      <a:r>
                        <a:rPr lang="en-US" sz="1400" b="1" dirty="0"/>
                        <a:t>Improved Threshold Neural Network (ITNN)</a:t>
                      </a:r>
                      <a:r>
                        <a:rPr lang="en-US" sz="1400" dirty="0"/>
                        <a:t> method is applied to </a:t>
                      </a:r>
                      <a:r>
                        <a:rPr lang="en-US" sz="1400" b="1" dirty="0"/>
                        <a:t>enhance image quality</a:t>
                      </a:r>
                      <a:r>
                        <a:rPr lang="en-US" sz="1400" dirty="0"/>
                        <a:t> by adjusting brightness, contrast, and thresholding.</a:t>
                      </a:r>
                    </a:p>
                    <a:p>
                      <a:r>
                        <a:rPr lang="en-US" sz="1400" dirty="0"/>
                        <a:t>This step ensures that disease symptoms (spots, discoloration, lesions) are clearly visible for subsequent segmentation.</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IN" sz="1400" b="1" dirty="0"/>
                        <a:t>High Detection Accuracy:</a:t>
                      </a:r>
                      <a:r>
                        <a:rPr lang="en-IN" sz="1400" dirty="0"/>
                        <a:t> The hybrid approach using GAN with spectral analysis improves classification precision.</a:t>
                      </a:r>
                    </a:p>
                    <a:p>
                      <a:r>
                        <a:rPr lang="en-IN" sz="1400" b="1" dirty="0"/>
                        <a:t>Reduced False Rate:</a:t>
                      </a:r>
                      <a:r>
                        <a:rPr lang="en-IN" sz="1400" dirty="0"/>
                        <a:t> Significantly lowers false detections compared to traditional CNN and AlexNet models.</a:t>
                      </a:r>
                    </a:p>
                    <a:p>
                      <a:r>
                        <a:rPr lang="en-IN" sz="1400" b="1" dirty="0"/>
                        <a:t>Enhanced Image Quality:</a:t>
                      </a:r>
                      <a:r>
                        <a:rPr lang="en-IN" sz="1400" dirty="0"/>
                        <a:t> ITNN preprocessing ensures better visibility of disease features.</a:t>
                      </a:r>
                    </a:p>
                    <a:p>
                      <a:r>
                        <a:rPr lang="en-IN" sz="1400" b="1" dirty="0"/>
                        <a:t>Improved Segmentation:</a:t>
                      </a:r>
                      <a:r>
                        <a:rPr lang="en-IN" sz="1400" dirty="0"/>
                        <a:t> SMNS accurately isolates diseased regions, overcoming previous segmentation issues.</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High Computational Complexity:</a:t>
                      </a:r>
                      <a:r>
                        <a:rPr lang="en-US" sz="1400" dirty="0"/>
                        <a:t> The combination of ITNN, SMNS, S2AFS, S2O-FCW, and DSGAN2 increases processing time.</a:t>
                      </a:r>
                    </a:p>
                    <a:p>
                      <a:r>
                        <a:rPr lang="en-US" sz="1400" b="1" dirty="0"/>
                        <a:t>Large Dataset Requirement:</a:t>
                      </a:r>
                      <a:r>
                        <a:rPr lang="en-US" sz="1400" dirty="0"/>
                        <a:t> GAN-based networks require extensive and balanced datasets to train effectively.</a:t>
                      </a:r>
                    </a:p>
                    <a:p>
                      <a:r>
                        <a:rPr lang="en-US" sz="1400" b="1" dirty="0"/>
                        <a:t>Difficult Model Interpretation:</a:t>
                      </a:r>
                      <a:r>
                        <a:rPr lang="en-US" sz="1400" dirty="0"/>
                        <a:t> GAN architectures are often considered “black boxes,” making interpretability challenging.</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tc>
                  <a:txBody>
                    <a:bodyPr/>
                    <a:lstStyle/>
                    <a:p>
                      <a:r>
                        <a:rPr lang="en-US" sz="1400" b="1" dirty="0"/>
                        <a:t>Lack of Real-Time Implementation:</a:t>
                      </a:r>
                      <a:r>
                        <a:rPr lang="en-US" sz="1400" dirty="0"/>
                        <a:t> The study does not explore real-time detection or deployment on mobile/IoT platforms.</a:t>
                      </a:r>
                    </a:p>
                    <a:p>
                      <a:r>
                        <a:rPr lang="en-US" sz="1400" b="1" dirty="0"/>
                        <a:t>Absence of Explainable AI (XAI):</a:t>
                      </a:r>
                      <a:r>
                        <a:rPr lang="en-US" sz="1400" dirty="0"/>
                        <a:t> The model lacks interpretability mechanisms to explain how predictions are made.</a:t>
                      </a:r>
                    </a:p>
                    <a:p>
                      <a:r>
                        <a:rPr lang="en-US" sz="1400" b="1" dirty="0"/>
                        <a:t>Dataset Diversity:</a:t>
                      </a:r>
                      <a:r>
                        <a:rPr lang="en-US" sz="1400" dirty="0"/>
                        <a:t> The dataset used may not include different lighting, weather, or soil conditions, limiting generalization.</a:t>
                      </a:r>
                    </a:p>
                    <a:p>
                      <a:r>
                        <a:rPr lang="en-US" sz="1400" b="1" dirty="0"/>
                        <a:t>Computational Efficiency:</a:t>
                      </a:r>
                      <a:r>
                        <a:rPr lang="en-US" sz="1400" dirty="0"/>
                        <a:t> Further optimization is needed to reduce training time and resource usage for field-level applications.</a:t>
                      </a:r>
                    </a:p>
                  </a:txBody>
                  <a:tcPr>
                    <a:lnL w="9792" cap="flat" cmpd="sng" algn="ctr">
                      <a:solidFill>
                        <a:srgbClr val="FFFFFF"/>
                      </a:solidFill>
                      <a:prstDash val="solid"/>
                      <a:round/>
                      <a:headEnd type="none" w="med" len="med"/>
                      <a:tailEnd type="none" w="med" len="med"/>
                    </a:lnL>
                    <a:lnR w="9792" cap="flat" cmpd="sng" algn="ctr">
                      <a:solidFill>
                        <a:srgbClr val="FFFFFF"/>
                      </a:solidFill>
                      <a:prstDash val="solid"/>
                      <a:round/>
                      <a:headEnd type="none" w="med" len="med"/>
                      <a:tailEnd type="none" w="med" len="med"/>
                    </a:lnR>
                    <a:lnT w="9792" cap="flat" cmpd="sng" algn="ctr">
                      <a:solidFill>
                        <a:srgbClr val="FFFFFF"/>
                      </a:solidFill>
                      <a:prstDash val="solid"/>
                      <a:round/>
                      <a:headEnd type="none" w="med" len="med"/>
                      <a:tailEnd type="none" w="med" len="med"/>
                    </a:lnT>
                    <a:lnB w="9792"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2547163904"/>
                  </a:ext>
                </a:extLst>
              </a:tr>
            </a:tbl>
          </a:graphicData>
        </a:graphic>
      </p:graphicFrame>
    </p:spTree>
    <p:extLst>
      <p:ext uri="{BB962C8B-B14F-4D97-AF65-F5344CB8AC3E}">
        <p14:creationId xmlns:p14="http://schemas.microsoft.com/office/powerpoint/2010/main" val="3266987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EA9C7-BD2E-5FE4-6D02-6CE189434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7A8DB-73D7-6ED1-CBB9-6F3DB7B0C8DA}"/>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121824BB-F36E-18B9-1195-989D5E7913C3}"/>
              </a:ext>
            </a:extLst>
          </p:cNvPr>
          <p:cNvSpPr txBox="1">
            <a:spLocks noEditPoints="1"/>
          </p:cNvSpPr>
          <p:nvPr/>
        </p:nvSpPr>
        <p:spPr>
          <a:xfrm>
            <a:off x="0" y="-1"/>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RESULTS AND DISCUSSIONS:</a:t>
            </a:r>
          </a:p>
        </p:txBody>
      </p:sp>
      <p:sp>
        <p:nvSpPr>
          <p:cNvPr id="6" name="TextBox 5">
            <a:extLst>
              <a:ext uri="{FF2B5EF4-FFF2-40B4-BE49-F238E27FC236}">
                <a16:creationId xmlns:a16="http://schemas.microsoft.com/office/drawing/2014/main" id="{8D6884B5-F0C3-EA1B-136E-4F56DF897B8C}"/>
              </a:ext>
            </a:extLst>
          </p:cNvPr>
          <p:cNvSpPr txBox="1"/>
          <p:nvPr/>
        </p:nvSpPr>
        <p:spPr>
          <a:xfrm>
            <a:off x="281031" y="863035"/>
            <a:ext cx="6249798" cy="392993"/>
          </a:xfrm>
          <a:prstGeom prst="rect">
            <a:avLst/>
          </a:prstGeom>
          <a:noFill/>
        </p:spPr>
        <p:txBody>
          <a:bodyPr wrap="square">
            <a:spAutoFit/>
          </a:bodyPr>
          <a:lstStyle/>
          <a:p>
            <a:pPr algn="just">
              <a:lnSpc>
                <a:spcPct val="115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Accuracies of Models: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94BB382E-7CAA-FC63-EB04-946142D4F9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968" y="1436014"/>
            <a:ext cx="7507536" cy="4467729"/>
          </a:xfrm>
          <a:prstGeom prst="rect">
            <a:avLst/>
          </a:prstGeom>
        </p:spPr>
      </p:pic>
    </p:spTree>
    <p:extLst>
      <p:ext uri="{BB962C8B-B14F-4D97-AF65-F5344CB8AC3E}">
        <p14:creationId xmlns:p14="http://schemas.microsoft.com/office/powerpoint/2010/main" val="1985396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3F2A5-8D8E-4973-AF9A-2FA51EBD8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3ED54-339B-481B-4B39-7457C724754D}"/>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DA9FFD50-A3EE-3866-ADD4-8E3315097242}"/>
              </a:ext>
            </a:extLst>
          </p:cNvPr>
          <p:cNvSpPr txBox="1">
            <a:spLocks noEditPoints="1"/>
          </p:cNvSpPr>
          <p:nvPr/>
        </p:nvSpPr>
        <p:spPr>
          <a:xfrm>
            <a:off x="0" y="-1"/>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RESULTS AND DISCUSSIONS:</a:t>
            </a:r>
          </a:p>
        </p:txBody>
      </p:sp>
      <p:sp>
        <p:nvSpPr>
          <p:cNvPr id="5" name="TextBox 4">
            <a:extLst>
              <a:ext uri="{FF2B5EF4-FFF2-40B4-BE49-F238E27FC236}">
                <a16:creationId xmlns:a16="http://schemas.microsoft.com/office/drawing/2014/main" id="{712AE991-70BC-249F-7710-AE7F67517CB2}"/>
              </a:ext>
            </a:extLst>
          </p:cNvPr>
          <p:cNvSpPr txBox="1"/>
          <p:nvPr/>
        </p:nvSpPr>
        <p:spPr>
          <a:xfrm>
            <a:off x="356529" y="1070958"/>
            <a:ext cx="11329333" cy="2293513"/>
          </a:xfrm>
          <a:prstGeom prst="rect">
            <a:avLst/>
          </a:prstGeom>
          <a:noFill/>
        </p:spPr>
        <p:txBody>
          <a:bodyPr wrap="square">
            <a:spAutoFit/>
          </a:bodyPr>
          <a:lstStyle/>
          <a:p>
            <a:pPr algn="just">
              <a:lnSpc>
                <a:spcPct val="115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Class-wise Error Analysis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To better understand the performance of the three models—Random Forest, Custom CNN, and MobileNetV2—we performed a class-wise error analysis using the recall metric. The error rate for each class is calculated as: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Error Rate = 1- Recall</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This analysis highlights which classes each model struggled to classify correctly, helping identify potential areas for improvement.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67954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261AD-0FA6-D670-E0C2-7EDB4AFE3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D736D-88D6-51D0-B012-F06FBC0D49D4}"/>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862A4ACF-8033-ED11-656E-77DDB7068CDC}"/>
              </a:ext>
            </a:extLst>
          </p:cNvPr>
          <p:cNvSpPr txBox="1">
            <a:spLocks noEditPoints="1"/>
          </p:cNvSpPr>
          <p:nvPr/>
        </p:nvSpPr>
        <p:spPr>
          <a:xfrm>
            <a:off x="0" y="-1"/>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RESULTS AND DISCUSSIONS:</a:t>
            </a:r>
          </a:p>
        </p:txBody>
      </p:sp>
      <p:sp>
        <p:nvSpPr>
          <p:cNvPr id="6" name="TextBox 5">
            <a:extLst>
              <a:ext uri="{FF2B5EF4-FFF2-40B4-BE49-F238E27FC236}">
                <a16:creationId xmlns:a16="http://schemas.microsoft.com/office/drawing/2014/main" id="{81222999-32C0-9358-3765-7EF61ED85ABF}"/>
              </a:ext>
            </a:extLst>
          </p:cNvPr>
          <p:cNvSpPr txBox="1"/>
          <p:nvPr/>
        </p:nvSpPr>
        <p:spPr>
          <a:xfrm>
            <a:off x="190500" y="802509"/>
            <a:ext cx="6249798" cy="392993"/>
          </a:xfrm>
          <a:prstGeom prst="rect">
            <a:avLst/>
          </a:prstGeom>
          <a:noFill/>
        </p:spPr>
        <p:txBody>
          <a:bodyPr wrap="square">
            <a:spAutoFit/>
          </a:bodyPr>
          <a:lstStyle/>
          <a:p>
            <a:pPr algn="just">
              <a:lnSpc>
                <a:spcPct val="115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Class-wise Error Analysis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587DB694-B248-4990-A229-ED4DB388073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381176"/>
            <a:ext cx="4831080" cy="4038600"/>
          </a:xfrm>
          <a:prstGeom prst="rect">
            <a:avLst/>
          </a:prstGeom>
          <a:noFill/>
          <a:ln>
            <a:noFill/>
          </a:ln>
        </p:spPr>
      </p:pic>
      <p:pic>
        <p:nvPicPr>
          <p:cNvPr id="8" name="Picture 7">
            <a:extLst>
              <a:ext uri="{FF2B5EF4-FFF2-40B4-BE49-F238E27FC236}">
                <a16:creationId xmlns:a16="http://schemas.microsoft.com/office/drawing/2014/main" id="{36D41FDE-C61E-A9E0-750B-44F9016C8B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21580" y="2445827"/>
            <a:ext cx="5731510" cy="2419350"/>
          </a:xfrm>
          <a:prstGeom prst="rect">
            <a:avLst/>
          </a:prstGeom>
          <a:noFill/>
          <a:ln>
            <a:noFill/>
          </a:ln>
        </p:spPr>
      </p:pic>
    </p:spTree>
    <p:extLst>
      <p:ext uri="{BB962C8B-B14F-4D97-AF65-F5344CB8AC3E}">
        <p14:creationId xmlns:p14="http://schemas.microsoft.com/office/powerpoint/2010/main" val="3849686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6FC27-4DA5-7F1C-E272-7EC0DEEF3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486DA-35A1-D0D4-C315-B67A7BDD8B49}"/>
              </a:ext>
            </a:extLst>
          </p:cNvPr>
          <p:cNvSpPr>
            <a:spLocks noGrp="1"/>
          </p:cNvSpPr>
          <p:nvPr>
            <p:ph type="title"/>
          </p:nvPr>
        </p:nvSpPr>
        <p:spPr>
          <a:xfrm>
            <a:off x="190500" y="185673"/>
            <a:ext cx="11811000" cy="1316556"/>
          </a:xfrm>
        </p:spPr>
        <p:txBody>
          <a:bodyPr/>
          <a:lstStyle/>
          <a:p>
            <a:r>
              <a:rPr lang="en-US" dirty="0"/>
              <a:t>Agenda</a:t>
            </a:r>
          </a:p>
        </p:txBody>
      </p:sp>
      <p:sp>
        <p:nvSpPr>
          <p:cNvPr id="4" name="object 2">
            <a:extLst>
              <a:ext uri="{FF2B5EF4-FFF2-40B4-BE49-F238E27FC236}">
                <a16:creationId xmlns:a16="http://schemas.microsoft.com/office/drawing/2014/main" id="{EE92EE71-304D-1446-80CC-FFAB8A29BA5A}"/>
              </a:ext>
            </a:extLst>
          </p:cNvPr>
          <p:cNvSpPr txBox="1">
            <a:spLocks noEditPoints="1"/>
          </p:cNvSpPr>
          <p:nvPr/>
        </p:nvSpPr>
        <p:spPr>
          <a:xfrm>
            <a:off x="0" y="-1"/>
            <a:ext cx="12192000" cy="616836"/>
          </a:xfrm>
          <a:prstGeom prst="rect">
            <a:avLst/>
          </a:prstGeom>
          <a:solidFill>
            <a:srgbClr val="AE1D49"/>
          </a:solidFill>
        </p:spPr>
        <p:txBody>
          <a:bodyPr vert="horz" wrap="square" lIns="0" tIns="1270" rIns="0" bIns="0" rtlCol="0" anchor="t">
            <a:spAutoFit/>
          </a:bodyPr>
          <a:lstStyle>
            <a:lvl1pPr>
              <a:defRPr sz="3200" b="1" i="0">
                <a:solidFill>
                  <a:schemeClr val="bg1"/>
                </a:solidFill>
                <a:latin typeface="Arial" panose="020B0604020202020204" pitchFamily="34" charset="0"/>
                <a:ea typeface="+mj-ea"/>
                <a:cs typeface="Arial" panose="020B0604020202020204" pitchFamily="34" charset="0"/>
              </a:defRPr>
            </a:lvl1pPr>
          </a:lstStyle>
          <a:p>
            <a:r>
              <a:rPr lang="en-IN" sz="4000"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9FDBD54F-CE94-1605-D2D5-E33109E4E2DE}"/>
              </a:ext>
            </a:extLst>
          </p:cNvPr>
          <p:cNvSpPr txBox="1"/>
          <p:nvPr/>
        </p:nvSpPr>
        <p:spPr>
          <a:xfrm>
            <a:off x="190500" y="1163237"/>
            <a:ext cx="10950080" cy="2585323"/>
          </a:xfrm>
          <a:prstGeom prst="rect">
            <a:avLst/>
          </a:prstGeom>
          <a:noFill/>
        </p:spPr>
        <p:txBody>
          <a:bodyPr wrap="square">
            <a:spAutoFit/>
          </a:bodyPr>
          <a:lstStyle/>
          <a:p>
            <a:r>
              <a:rPr lang="en-IN" dirty="0"/>
              <a:t>This project successfully implemented and compared three approaches—Random Forest, a custom CNN, and MobileNetV2 transfer learning—for plant disease detection. The deep learning models (CNN and MobileNetV2) achieved high accuracy (97% and 96%) and effectively captured image features, outperforming the traditional Random Forest (85%), which struggled with underrepresented classes. MobileNetV2, with frozen pre-trained layers, offered faster training and a lightweight architecture suitable for deployment. Class-wise analysis highlighted challenges in rare disease classes, emphasizing the importance of data augmentation and balanced datasets. Overall, the project demonstrates that AI-based methods can provide reliable and scalable solutions for early plant disease detection, with potential for integration into real-time agricultural applications.</a:t>
            </a:r>
          </a:p>
        </p:txBody>
      </p:sp>
    </p:spTree>
    <p:extLst>
      <p:ext uri="{BB962C8B-B14F-4D97-AF65-F5344CB8AC3E}">
        <p14:creationId xmlns:p14="http://schemas.microsoft.com/office/powerpoint/2010/main" val="1878113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A010231-69F1-C44F-8CF9-985A55AA4ACD}"/>
              </a:ext>
            </a:extLst>
          </p:cNvPr>
          <p:cNvSpPr txBox="1">
            <a:spLocks noEditPoints="1"/>
          </p:cNvSpPr>
          <p:nvPr/>
        </p:nvSpPr>
        <p:spPr>
          <a:xfrm>
            <a:off x="-184" y="2686233"/>
            <a:ext cx="12191869" cy="1478610"/>
          </a:xfrm>
          <a:prstGeom prst="rect">
            <a:avLst/>
          </a:prstGeom>
          <a:solidFill>
            <a:srgbClr val="AE1D49"/>
          </a:solidFill>
        </p:spPr>
        <p:txBody>
          <a:bodyPr vert="horz" wrap="square" lIns="0" tIns="1270" rIns="0" bIns="0" rtlCol="0" anchor="t">
            <a:spAutoFit/>
          </a:bodyPr>
          <a:lstStyle>
            <a:lvl1pPr>
              <a:defRPr>
                <a:latin typeface="+mj-lt"/>
                <a:ea typeface="+mj-ea"/>
                <a:cs typeface="+mj-cs"/>
              </a:defRPr>
            </a:lvl1pPr>
          </a:lstStyle>
          <a:p>
            <a:pPr marL="12700" algn="ctr">
              <a:spcBef>
                <a:spcPts val="10"/>
              </a:spcBef>
            </a:pPr>
            <a:r>
              <a:rPr lang="en-US" sz="9600" dirty="0">
                <a:solidFill>
                  <a:schemeClr val="bg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43057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F9B64913BAF7498C42B21DC5B4BB71" ma:contentTypeVersion="6" ma:contentTypeDescription="Create a new document." ma:contentTypeScope="" ma:versionID="1bf77888704f8dd15a2b292df9cacead">
  <xsd:schema xmlns:xsd="http://www.w3.org/2001/XMLSchema" xmlns:xs="http://www.w3.org/2001/XMLSchema" xmlns:p="http://schemas.microsoft.com/office/2006/metadata/properties" xmlns:ns3="db762841-5daa-4b1f-8329-01f55c85c1e8" targetNamespace="http://schemas.microsoft.com/office/2006/metadata/properties" ma:root="true" ma:fieldsID="4c805720056295fff54f002772951707" ns3:_="">
    <xsd:import namespace="db762841-5daa-4b1f-8329-01f55c85c1e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762841-5daa-4b1f-8329-01f55c85c1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db762841-5daa-4b1f-8329-01f55c85c1e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99F5A9-AAEB-472C-A16F-324CC98483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762841-5daa-4b1f-8329-01f55c85c1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536A756-1F94-4613-B8B1-BFFF2A73F5E8}">
  <ds:schemaRefs>
    <ds:schemaRef ds:uri="http://purl.org/dc/terms/"/>
    <ds:schemaRef ds:uri="http://schemas.microsoft.com/office/infopath/2007/PartnerControls"/>
    <ds:schemaRef ds:uri="http://www.w3.org/XML/1998/namespace"/>
    <ds:schemaRef ds:uri="http://purl.org/dc/dcmitype/"/>
    <ds:schemaRef ds:uri="http://schemas.microsoft.com/office/2006/documentManagement/types"/>
    <ds:schemaRef ds:uri="db762841-5daa-4b1f-8329-01f55c85c1e8"/>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55CEACE-D4E8-4604-B69D-75CA39E829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ICCRTEE</Template>
  <TotalTime>1128</TotalTime>
  <Words>2994</Words>
  <Application>Microsoft Office PowerPoint</Application>
  <PresentationFormat>Widescreen</PresentationFormat>
  <Paragraphs>287</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Calibri</vt:lpstr>
      <vt:lpstr>Courier New</vt:lpstr>
      <vt:lpstr>Symbol</vt:lpstr>
      <vt:lpstr>Times New Roman</vt:lpstr>
      <vt:lpstr>Trebuchet MS</vt:lpstr>
      <vt:lpstr>Office Theme</vt:lpstr>
      <vt:lpstr>Plant Disease Detection using Leaf Images and Deep Learning</vt:lpstr>
      <vt:lpstr>PowerPoint Presentation</vt:lpstr>
      <vt:lpstr>Agenda</vt:lpstr>
      <vt:lpstr>PowerPoint Presentation</vt:lpstr>
      <vt:lpstr>PowerPoint Presentation</vt:lpstr>
      <vt:lpstr>Agenda</vt:lpstr>
      <vt:lpstr>Agenda</vt:lpstr>
      <vt:lpstr>Agenda</vt:lpstr>
      <vt:lpstr>Agenda</vt:lpstr>
      <vt:lpstr>Agenda</vt:lpstr>
      <vt:lpstr>Agenda</vt:lpstr>
      <vt:lpstr>Agenda</vt:lpstr>
      <vt:lpstr>Agenda</vt:lpstr>
      <vt:lpstr>PowerPoint Presentation</vt:lpstr>
      <vt:lpstr>PowerPoint Presentation</vt:lpstr>
      <vt:lpstr>PowerPoint Presentation</vt:lpstr>
      <vt:lpstr>PowerPoint Presentation</vt:lpstr>
      <vt:lpstr>Agenda</vt:lpstr>
      <vt:lpstr>Agenda</vt:lpstr>
      <vt:lpstr>Agenda</vt:lpstr>
      <vt:lpstr>Agenda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Introduction and Research Interest</dc:title>
  <dc:creator>AICTE</dc:creator>
  <cp:lastModifiedBy>Likhith Reddy</cp:lastModifiedBy>
  <cp:revision>30</cp:revision>
  <dcterms:created xsi:type="dcterms:W3CDTF">2022-11-08T06:15:00Z</dcterms:created>
  <dcterms:modified xsi:type="dcterms:W3CDTF">2025-10-14T19:57:53Z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2022-03-30T22:00:00Z</vt:filetime>
  </property>
  <property fmtid="{D5CDD505-2E9C-101B-9397-08002B2CF9AE}" pid="3" name="Creator">
    <vt:lpwstr>Microsoft® PowerPoint® for Microsoft 365</vt:lpwstr>
  </property>
  <property fmtid="{D5CDD505-2E9C-101B-9397-08002B2CF9AE}" pid="4" name="LastSaved">
    <vt:filetime>2022-11-08T22:00:00Z</vt:filetime>
  </property>
  <property fmtid="{D5CDD505-2E9C-101B-9397-08002B2CF9AE}" pid="5" name="Producer">
    <vt:lpwstr>Microsoft® PowerPoint® for Microsoft 365</vt:lpwstr>
  </property>
  <property fmtid="{D5CDD505-2E9C-101B-9397-08002B2CF9AE}" pid="6" name="ICV">
    <vt:lpwstr>7A13595D049547C69E4A20114147F584</vt:lpwstr>
  </property>
  <property fmtid="{D5CDD505-2E9C-101B-9397-08002B2CF9AE}" pid="7" name="KSOProductBuildVer">
    <vt:lpwstr>1033-11.2.0.11219</vt:lpwstr>
  </property>
  <property fmtid="{D5CDD505-2E9C-101B-9397-08002B2CF9AE}" pid="8" name="ContentTypeId">
    <vt:lpwstr>0x01010038F9B64913BAF7498C42B21DC5B4BB71</vt:lpwstr>
  </property>
</Properties>
</file>